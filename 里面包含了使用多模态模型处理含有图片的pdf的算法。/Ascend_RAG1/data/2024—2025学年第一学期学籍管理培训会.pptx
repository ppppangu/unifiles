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93" r:id="rId5"/>
    <p:sldId id="310" r:id="rId6"/>
    <p:sldId id="331" r:id="rId7"/>
    <p:sldId id="332" r:id="rId8"/>
    <p:sldId id="311" r:id="rId9"/>
    <p:sldId id="312" r:id="rId10"/>
    <p:sldId id="345" r:id="rId11"/>
    <p:sldId id="341" r:id="rId12"/>
    <p:sldId id="343" r:id="rId13"/>
    <p:sldId id="34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487C"/>
    <a:srgbClr val="FF99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58"/>
      </p:cViewPr>
      <p:guideLst/>
    </p:cSldViewPr>
  </p:slideViewPr>
  <p:notesTextViewPr>
    <p:cViewPr>
      <p:scale>
        <a:sx n="1" d="1"/>
        <a:sy n="1" d="1"/>
      </p:scale>
      <p:origin x="0" y="0"/>
    </p:cViewPr>
  </p:notesTextViewPr>
  <p:sorterViewPr>
    <p:cViewPr>
      <p:scale>
        <a:sx n="50" d="100"/>
        <a:sy n="50" d="100"/>
      </p:scale>
      <p:origin x="0" y="-1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true"/>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true" noRot="true" noChangeAspect="true"/>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true"/>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true"/>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true"/>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所以大家一定要注意五年级和初二、高二转入的学生，第二学期末是他们可以转入的最后时间，一定要在转学时间段内尽可能早地提出申请，假如材料出现问题还有可以补救的时间。</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各位学籍老师可以查阅学生的学籍卡片，假如户籍或房产未发生改变，是不允许转学的。</a:t>
            </a:r>
            <a:endParaRPr lang="zh-CN" altLang="en-US"/>
          </a:p>
          <a:p>
            <a:r>
              <a:rPr lang="zh-CN" altLang="en-US"/>
              <a:t>上传材料时，除学生和户口页和房产证</a:t>
            </a:r>
            <a:r>
              <a:rPr lang="en-US" altLang="zh-CN"/>
              <a:t>/</a:t>
            </a:r>
            <a:r>
              <a:rPr lang="zh-CN" altLang="en-US"/>
              <a:t>购房合同和购房发票外，若房产所有权人不是学生本人的，还需上传房产所有权人与学生的亲属关系证明材料，如出生证明、户口本等。</a:t>
            </a:r>
            <a:endParaRPr lang="zh-CN" altLang="en-US"/>
          </a:p>
          <a:p>
            <a:r>
              <a:rPr lang="zh-CN" altLang="en-US"/>
              <a:t>还需注意的是 这里的房产指的是三代以内直系亲属的房产，其他亲属的是不可以的。</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各位学籍老师可以查阅学生的学籍卡片，假如户籍或房产未发生改变，是不允许转学的。</a:t>
            </a:r>
            <a:endParaRPr lang="zh-CN" altLang="en-US"/>
          </a:p>
          <a:p>
            <a:r>
              <a:rPr lang="zh-CN" altLang="en-US"/>
              <a:t>上传材料时，除学生和户口页和房产证</a:t>
            </a:r>
            <a:r>
              <a:rPr lang="en-US" altLang="zh-CN"/>
              <a:t>/</a:t>
            </a:r>
            <a:r>
              <a:rPr lang="zh-CN" altLang="en-US"/>
              <a:t>购房合同和购房发票外，若房产所有权人不是学生本人的，还需上传房产所有权人与学生的亲属关系证明材料，如出生证明、户口本等。</a:t>
            </a:r>
            <a:endParaRPr lang="zh-CN" altLang="en-US"/>
          </a:p>
          <a:p>
            <a:r>
              <a:rPr lang="zh-CN" altLang="en-US"/>
              <a:t>还需注意的是 这里的房产指的是三代以内直系亲属的房产，其他亲属的是不可以的。</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sym typeface="+mn-ea"/>
              </a:rPr>
              <a:t>需注意的是 这里的房产指的是父母的房产，其他亲属的是不可以的。</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非京籍转学需要自行联系学校，在此需要强调的是，与入学一样，非京籍协调校在有空余学位的情况下需要接收符合条件的非京籍学生。</a:t>
            </a:r>
            <a:endParaRPr lang="zh-CN" altLang="en-US"/>
          </a:p>
          <a:p>
            <a:r>
              <a:rPr lang="zh-CN" altLang="en-US">
                <a:latin typeface="微软雅黑" panose="020B0503020204020204" charset="-122"/>
                <a:ea typeface="微软雅黑" panose="020B0503020204020204" charset="-122"/>
                <a:sym typeface="+mn-ea"/>
              </a:rPr>
              <a:t>非京籍转学材料复印件需要保留</a:t>
            </a:r>
            <a:r>
              <a:rPr lang="en-US" altLang="zh-CN">
                <a:latin typeface="微软雅黑" panose="020B0503020204020204" charset="-122"/>
                <a:ea typeface="微软雅黑" panose="020B0503020204020204" charset="-122"/>
                <a:sym typeface="+mn-ea"/>
              </a:rPr>
              <a:t>2</a:t>
            </a:r>
            <a:r>
              <a:rPr lang="zh-CN" altLang="en-US">
                <a:latin typeface="微软雅黑" panose="020B0503020204020204" charset="-122"/>
                <a:ea typeface="微软雅黑" panose="020B0503020204020204" charset="-122"/>
                <a:sym typeface="+mn-ea"/>
              </a:rPr>
              <a:t>份，</a:t>
            </a:r>
            <a:r>
              <a:rPr lang="en-US" altLang="zh-CN">
                <a:latin typeface="微软雅黑" panose="020B0503020204020204" charset="-122"/>
                <a:ea typeface="微软雅黑" panose="020B0503020204020204" charset="-122"/>
                <a:sym typeface="+mn-ea"/>
              </a:rPr>
              <a:t>1</a:t>
            </a:r>
            <a:r>
              <a:rPr lang="zh-CN" altLang="en-US">
                <a:latin typeface="微软雅黑" panose="020B0503020204020204" charset="-122"/>
                <a:ea typeface="微软雅黑" panose="020B0503020204020204" charset="-122"/>
                <a:sym typeface="+mn-ea"/>
              </a:rPr>
              <a:t>份学校留存，</a:t>
            </a:r>
            <a:r>
              <a:rPr lang="en-US" altLang="zh-CN">
                <a:latin typeface="微软雅黑" panose="020B0503020204020204" charset="-122"/>
                <a:ea typeface="微软雅黑" panose="020B0503020204020204" charset="-122"/>
                <a:sym typeface="+mn-ea"/>
              </a:rPr>
              <a:t>1</a:t>
            </a:r>
            <a:r>
              <a:rPr lang="zh-CN" altLang="en-US">
                <a:latin typeface="微软雅黑" panose="020B0503020204020204" charset="-122"/>
                <a:ea typeface="微软雅黑" panose="020B0503020204020204" charset="-122"/>
                <a:sym typeface="+mn-ea"/>
              </a:rPr>
              <a:t>份教委留存，一生一案，区县学籍交叉互查需要检查。</a:t>
            </a:r>
            <a:endParaRPr lang="zh-CN" altLang="en-US">
              <a:latin typeface="微软雅黑" panose="020B0503020204020204" charset="-122"/>
              <a:ea typeface="微软雅黑" panose="020B0503020204020204" charset="-122"/>
              <a:sym typeface="+mn-ea"/>
            </a:endParaRPr>
          </a:p>
          <a:p>
            <a:r>
              <a:rPr lang="zh-CN" altLang="en-US"/>
              <a:t>非京籍转学只需上传</a:t>
            </a:r>
            <a:r>
              <a:rPr lang="en-US" altLang="zh-CN"/>
              <a:t>“</a:t>
            </a:r>
            <a:r>
              <a:rPr lang="zh-CN" altLang="en-US"/>
              <a:t>外省市学生来京就读确认书</a:t>
            </a:r>
            <a:r>
              <a:rPr lang="en-US" altLang="zh-CN"/>
              <a:t>”</a:t>
            </a:r>
            <a:r>
              <a:rPr lang="zh-CN" altLang="en-US"/>
              <a:t>即可。</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sym typeface="+mn-ea"/>
              </a:rPr>
              <a:t>需注意的是 这里的房产指的是父母的房产，其他亲属的是不可以的。</a:t>
            </a:r>
            <a:endParaRPr lang="zh-CN" altLang="en-US"/>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各位学籍老师可以查阅学生的学籍卡片，假如户籍或房产未发生改变，是不允许转学的。</a:t>
            </a:r>
            <a:endParaRPr lang="zh-CN" altLang="en-US"/>
          </a:p>
          <a:p>
            <a:r>
              <a:rPr lang="zh-CN" altLang="en-US"/>
              <a:t>上传材料时，除学生和户口页和房产证</a:t>
            </a:r>
            <a:r>
              <a:rPr lang="en-US" altLang="zh-CN"/>
              <a:t>/</a:t>
            </a:r>
            <a:r>
              <a:rPr lang="zh-CN" altLang="en-US"/>
              <a:t>购房合同和购房发票外，若房产所有权人不是学生本人的，还需上传房产所有权人与学生的亲属关系证明材料，如出生证明、户口本等。</a:t>
            </a:r>
            <a:endParaRPr lang="zh-CN" altLang="en-US"/>
          </a:p>
          <a:p>
            <a:r>
              <a:rPr lang="zh-CN" altLang="en-US"/>
              <a:t>还需注意的是 这里的房产指的是三代以内直系亲属的房产，其他亲属的是不可以的。</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idx="2"/>
          </p:nvPr>
        </p:nvSpPr>
        <p:spPr/>
      </p:sp>
      <p:sp>
        <p:nvSpPr>
          <p:cNvPr id="3" name="文本占位符 2"/>
          <p:cNvSpPr>
            <a:spLocks noGrp="true"/>
          </p:cNvSpPr>
          <p:nvPr>
            <p:ph type="body" idx="3"/>
          </p:nvPr>
        </p:nvSpPr>
        <p:spPr/>
        <p:txBody>
          <a:bodyPr/>
          <a:lstStyle/>
          <a:p>
            <a:r>
              <a:rPr lang="zh-CN" altLang="en-US"/>
              <a:t>各位学籍老师可以查阅学生的学籍卡片，假如户籍或房产未发生改变，是不允许转学的。</a:t>
            </a:r>
            <a:endParaRPr lang="zh-CN" altLang="en-US"/>
          </a:p>
          <a:p>
            <a:r>
              <a:rPr lang="zh-CN" altLang="en-US"/>
              <a:t>上传材料时，除学生和户口页和房产证</a:t>
            </a:r>
            <a:r>
              <a:rPr lang="en-US" altLang="zh-CN"/>
              <a:t>/</a:t>
            </a:r>
            <a:r>
              <a:rPr lang="zh-CN" altLang="en-US"/>
              <a:t>购房合同和购房发票外，若房产所有权人不是学生本人的，还需上传房产所有权人与学生的亲属关系证明材料，如出生证明、户口本等。</a:t>
            </a:r>
            <a:endParaRPr lang="zh-CN" altLang="en-US"/>
          </a:p>
          <a:p>
            <a:r>
              <a:rPr lang="zh-CN" altLang="en-US"/>
              <a:t>还需注意的是 这里的房产指的是三代以内直系亲属的房产，其他亲属的是不可以的。</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true"/>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true"/>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true"/>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true"/>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内容占位符 2"/>
          <p:cNvSpPr>
            <a:spLocks noGrp="true"/>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true"/>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6" name="页脚占位符 5"/>
          <p:cNvSpPr>
            <a:spLocks noGrp="true"/>
          </p:cNvSpPr>
          <p:nvPr>
            <p:ph type="ftr" sz="quarter" idx="11"/>
          </p:nvPr>
        </p:nvSpPr>
        <p:spPr/>
        <p:txBody>
          <a:bodyPr/>
          <a:lstStyle/>
          <a:p>
            <a:endParaRPr lang="zh-CN" altLang="en-US"/>
          </a:p>
        </p:txBody>
      </p:sp>
      <p:sp>
        <p:nvSpPr>
          <p:cNvPr id="7" name="灯片编号占位符 6"/>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true"/>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true"/>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true"/>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true"/>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true"/>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8" name="页脚占位符 7"/>
          <p:cNvSpPr>
            <a:spLocks noGrp="true"/>
          </p:cNvSpPr>
          <p:nvPr>
            <p:ph type="ftr" sz="quarter" idx="11"/>
          </p:nvPr>
        </p:nvSpPr>
        <p:spPr/>
        <p:txBody>
          <a:bodyPr/>
          <a:lstStyle/>
          <a:p>
            <a:endParaRPr lang="zh-CN" altLang="en-US"/>
          </a:p>
        </p:txBody>
      </p:sp>
      <p:sp>
        <p:nvSpPr>
          <p:cNvPr id="9" name="灯片编号占位符 8"/>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日期占位符 2"/>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4" name="页脚占位符 3"/>
          <p:cNvSpPr>
            <a:spLocks noGrp="true"/>
          </p:cNvSpPr>
          <p:nvPr>
            <p:ph type="ftr" sz="quarter" idx="11"/>
          </p:nvPr>
        </p:nvSpPr>
        <p:spPr/>
        <p:txBody>
          <a:bodyPr/>
          <a:lstStyle/>
          <a:p>
            <a:endParaRPr lang="zh-CN" altLang="en-US"/>
          </a:p>
        </p:txBody>
      </p:sp>
      <p:sp>
        <p:nvSpPr>
          <p:cNvPr id="5" name="灯片编号占位符 4"/>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3" name="页脚占位符 2"/>
          <p:cNvSpPr>
            <a:spLocks noGrp="true"/>
          </p:cNvSpPr>
          <p:nvPr>
            <p:ph type="ftr" sz="quarter" idx="11"/>
          </p:nvPr>
        </p:nvSpPr>
        <p:spPr/>
        <p:txBody>
          <a:bodyPr/>
          <a:lstStyle/>
          <a:p>
            <a:endParaRPr lang="zh-CN" altLang="en-US"/>
          </a:p>
        </p:txBody>
      </p:sp>
      <p:sp>
        <p:nvSpPr>
          <p:cNvPr id="4" name="灯片编号占位符 3"/>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true"/>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true"/>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6" name="页脚占位符 5"/>
          <p:cNvSpPr>
            <a:spLocks noGrp="true"/>
          </p:cNvSpPr>
          <p:nvPr>
            <p:ph type="ftr" sz="quarter" idx="11"/>
          </p:nvPr>
        </p:nvSpPr>
        <p:spPr/>
        <p:txBody>
          <a:bodyPr/>
          <a:lstStyle/>
          <a:p>
            <a:endParaRPr lang="zh-CN" altLang="en-US"/>
          </a:p>
        </p:txBody>
      </p:sp>
      <p:sp>
        <p:nvSpPr>
          <p:cNvPr id="7" name="灯片编号占位符 6"/>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true"/>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true"/>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true"/>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6" name="页脚占位符 5"/>
          <p:cNvSpPr>
            <a:spLocks noGrp="true"/>
          </p:cNvSpPr>
          <p:nvPr>
            <p:ph type="ftr" sz="quarter" idx="11"/>
          </p:nvPr>
        </p:nvSpPr>
        <p:spPr/>
        <p:txBody>
          <a:bodyPr/>
          <a:lstStyle/>
          <a:p>
            <a:endParaRPr lang="zh-CN" altLang="en-US"/>
          </a:p>
        </p:txBody>
      </p:sp>
      <p:sp>
        <p:nvSpPr>
          <p:cNvPr id="7" name="灯片编号占位符 6"/>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true"/>
          </p:cNvSpPr>
          <p:nvPr>
            <p:ph type="title"/>
          </p:nvPr>
        </p:nvSpPr>
        <p:spPr/>
        <p:txBody>
          <a:bodyPr/>
          <a:lstStyle/>
          <a:p>
            <a:r>
              <a:rPr lang="zh-CN" altLang="en-US"/>
              <a:t>单击此处编辑母版标题样式</a:t>
            </a:r>
            <a:endParaRPr lang="zh-CN" altLang="en-US"/>
          </a:p>
        </p:txBody>
      </p:sp>
      <p:sp>
        <p:nvSpPr>
          <p:cNvPr id="3" name="竖排文字占位符 2"/>
          <p:cNvSpPr>
            <a:spLocks noGrp="true"/>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true"/>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true"/>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10"/>
          </p:nvPr>
        </p:nvSpPr>
        <p:spPr/>
        <p:txBody>
          <a:body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11"/>
          </p:nvPr>
        </p:nvSpPr>
        <p:spPr/>
        <p:txBody>
          <a:bodyPr/>
          <a:lstStyle/>
          <a:p>
            <a:endParaRPr lang="zh-CN" altLang="en-US"/>
          </a:p>
        </p:txBody>
      </p:sp>
      <p:sp>
        <p:nvSpPr>
          <p:cNvPr id="6" name="灯片编号占位符 5"/>
          <p:cNvSpPr>
            <a:spLocks noGrp="true"/>
          </p:cNvSpPr>
          <p:nvPr>
            <p:ph type="sldNum" sz="quarter" idx="12"/>
          </p:nvPr>
        </p:nvSpPr>
        <p:spPr/>
        <p:txBody>
          <a:bodyPr/>
          <a:lstStyle/>
          <a:p>
            <a:fld id="{9D88EFB3-8ED2-4592-A1CC-D9AB0090536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false">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true"/>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true"/>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true"/>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F6B169-E305-4F7B-8A65-ACE2B101B8FD}" type="datetimeFigureOut">
              <a:rPr lang="zh-CN" altLang="en-US" smtClean="0"/>
            </a:fld>
            <a:endParaRPr lang="zh-CN" altLang="en-US"/>
          </a:p>
        </p:txBody>
      </p:sp>
      <p:sp>
        <p:nvSpPr>
          <p:cNvPr id="5" name="页脚占位符 4"/>
          <p:cNvSpPr>
            <a:spLocks noGrp="true"/>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true"/>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88EFB3-8ED2-4592-A1CC-D9AB0090536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01 </a:t>
            </a:r>
            <a:r>
              <a:rPr lang="zh-CN" altLang="en-US" sz="2400" dirty="0">
                <a:solidFill>
                  <a:schemeClr val="bg1"/>
                </a:solidFill>
              </a:rPr>
              <a:t>转学时间</a:t>
            </a:r>
            <a:endParaRPr lang="zh-CN" altLang="en-US" sz="2400" dirty="0">
              <a:solidFill>
                <a:schemeClr val="bg1"/>
              </a:solidFill>
            </a:endParaRPr>
          </a:p>
        </p:txBody>
      </p:sp>
      <p:sp>
        <p:nvSpPr>
          <p:cNvPr id="7" name="文本框 6"/>
          <p:cNvSpPr txBox="true"/>
          <p:nvPr/>
        </p:nvSpPr>
        <p:spPr>
          <a:xfrm>
            <a:off x="2516225" y="2244762"/>
            <a:ext cx="7159550" cy="2368550"/>
          </a:xfrm>
          <a:prstGeom prst="rect">
            <a:avLst/>
          </a:prstGeom>
          <a:noFill/>
        </p:spPr>
        <p:txBody>
          <a:bodyPr wrap="square" rtlCol="0">
            <a:spAutoFit/>
          </a:bodyPr>
          <a:lstStyle/>
          <a:p>
            <a:pPr marL="342900" indent="-342900" algn="l">
              <a:lnSpc>
                <a:spcPct val="140000"/>
              </a:lnSpc>
              <a:buFont typeface="Wingdings" panose="05000000000000000000" charset="0"/>
              <a:buChar char="u"/>
            </a:pPr>
            <a:r>
              <a:rPr lang="zh-CN" altLang="en-US" sz="2000" dirty="0">
                <a:latin typeface="+mj-ea"/>
                <a:ea typeface="+mj-ea"/>
                <a:sym typeface="+mn-ea"/>
              </a:rPr>
              <a:t>转入时间：</a:t>
            </a:r>
            <a:endParaRPr lang="zh-CN" altLang="en-US" sz="2000" dirty="0">
              <a:latin typeface="+mj-ea"/>
              <a:ea typeface="+mj-ea"/>
              <a:sym typeface="+mn-ea"/>
            </a:endParaRPr>
          </a:p>
          <a:p>
            <a:pPr marL="342900" indent="-342900" algn="l">
              <a:lnSpc>
                <a:spcPct val="150000"/>
              </a:lnSpc>
            </a:pPr>
            <a:r>
              <a:rPr lang="en-US" altLang="zh-CN" sz="2000" dirty="0">
                <a:latin typeface="+mj-ea"/>
                <a:ea typeface="+mj-ea"/>
              </a:rPr>
              <a:t>   </a:t>
            </a:r>
            <a:r>
              <a:rPr lang="zh-CN" altLang="en-US" sz="2000" dirty="0">
                <a:latin typeface="+mj-ea"/>
                <a:ea typeface="+mj-ea"/>
              </a:rPr>
              <a:t>一般在</a:t>
            </a:r>
            <a:r>
              <a:rPr lang="zh-CN" altLang="en-US" sz="2000" dirty="0">
                <a:solidFill>
                  <a:srgbClr val="FF0000"/>
                </a:solidFill>
                <a:latin typeface="+mj-ea"/>
                <a:ea typeface="+mj-ea"/>
              </a:rPr>
              <a:t>寒、暑假放假前一个月</a:t>
            </a:r>
            <a:endParaRPr lang="zh-CN" altLang="en-US" sz="2000" dirty="0">
              <a:latin typeface="+mj-ea"/>
              <a:ea typeface="+mj-ea"/>
            </a:endParaRPr>
          </a:p>
          <a:p>
            <a:pPr algn="l">
              <a:lnSpc>
                <a:spcPct val="150000"/>
              </a:lnSpc>
            </a:pPr>
            <a:r>
              <a:rPr lang="en-US" altLang="zh-CN" sz="2000" dirty="0">
                <a:solidFill>
                  <a:schemeClr val="tx1"/>
                </a:solidFill>
                <a:latin typeface="+mj-ea"/>
                <a:ea typeface="+mj-ea"/>
              </a:rPr>
              <a:t>   </a:t>
            </a:r>
            <a:r>
              <a:rPr lang="zh-CN" altLang="en-US" sz="2000" b="1" dirty="0">
                <a:solidFill>
                  <a:schemeClr val="tx1"/>
                </a:solidFill>
                <a:latin typeface="+mj-ea"/>
                <a:ea typeface="+mj-ea"/>
              </a:rPr>
              <a:t>起始年级第一学期</a:t>
            </a:r>
            <a:r>
              <a:rPr lang="zh-CN" altLang="en-US" sz="2000" dirty="0">
                <a:solidFill>
                  <a:schemeClr val="tx1"/>
                </a:solidFill>
                <a:latin typeface="+mj-ea"/>
                <a:ea typeface="+mj-ea"/>
              </a:rPr>
              <a:t>和最后年级不允许转入</a:t>
            </a:r>
            <a:endParaRPr lang="en-US" altLang="zh-CN" sz="2000" dirty="0">
              <a:solidFill>
                <a:schemeClr val="tx1">
                  <a:lumMod val="50000"/>
                  <a:lumOff val="50000"/>
                </a:schemeClr>
              </a:solidFill>
              <a:latin typeface="+mj-ea"/>
              <a:ea typeface="+mj-ea"/>
            </a:endParaRPr>
          </a:p>
          <a:p>
            <a:pPr marL="342900" indent="-342900" algn="l">
              <a:lnSpc>
                <a:spcPct val="150000"/>
              </a:lnSpc>
              <a:buFont typeface="Wingdings" panose="05000000000000000000" charset="0"/>
              <a:buChar char="u"/>
            </a:pPr>
            <a:r>
              <a:rPr lang="zh-CN" altLang="en-US" sz="2000" dirty="0">
                <a:solidFill>
                  <a:schemeClr val="tx1"/>
                </a:solidFill>
                <a:latin typeface="+mj-ea"/>
                <a:ea typeface="+mj-ea"/>
              </a:rPr>
              <a:t>转出时间：</a:t>
            </a:r>
            <a:endParaRPr lang="zh-CN" altLang="en-US" sz="2000" b="1" dirty="0">
              <a:solidFill>
                <a:schemeClr val="tx1"/>
              </a:solidFill>
              <a:latin typeface="+mj-ea"/>
              <a:ea typeface="+mj-ea"/>
            </a:endParaRPr>
          </a:p>
          <a:p>
            <a:pPr marL="457200" indent="-457200" algn="l">
              <a:lnSpc>
                <a:spcPct val="150000"/>
              </a:lnSpc>
            </a:pPr>
            <a:r>
              <a:rPr lang="en-US" altLang="zh-CN" sz="2000" dirty="0">
                <a:solidFill>
                  <a:srgbClr val="FF0000"/>
                </a:solidFill>
                <a:latin typeface="+mn-ea"/>
                <a:cs typeface="+mn-ea"/>
              </a:rPr>
              <a:t>   </a:t>
            </a:r>
            <a:r>
              <a:rPr lang="zh-CN" sz="2000" dirty="0">
                <a:solidFill>
                  <a:srgbClr val="FF0000"/>
                </a:solidFill>
                <a:latin typeface="+mn-ea"/>
                <a:cs typeface="+mn-ea"/>
              </a:rPr>
              <a:t>任何</a:t>
            </a:r>
            <a:r>
              <a:rPr lang="zh-CN" altLang="en-US" sz="2000" dirty="0">
                <a:solidFill>
                  <a:srgbClr val="FF0000"/>
                </a:solidFill>
                <a:latin typeface="+mn-ea"/>
                <a:cs typeface="+mn-ea"/>
              </a:rPr>
              <a:t>年级、任何</a:t>
            </a:r>
            <a:r>
              <a:rPr lang="zh-CN" sz="2000" dirty="0">
                <a:solidFill>
                  <a:srgbClr val="FF0000"/>
                </a:solidFill>
                <a:latin typeface="+mn-ea"/>
                <a:cs typeface="+mn-ea"/>
              </a:rPr>
              <a:t>时间</a:t>
            </a:r>
            <a:r>
              <a:rPr lang="zh-CN" sz="2000" dirty="0">
                <a:solidFill>
                  <a:schemeClr val="tx1"/>
                </a:solidFill>
                <a:latin typeface="+mn-ea"/>
                <a:cs typeface="+mn-ea"/>
              </a:rPr>
              <a:t>均可转出</a:t>
            </a:r>
            <a:endParaRPr lang="zh-CN" sz="2000" dirty="0">
              <a:solidFill>
                <a:schemeClr val="tx1"/>
              </a:solidFill>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8" name="文本框 7"/>
          <p:cNvSpPr txBox="true"/>
          <p:nvPr/>
        </p:nvSpPr>
        <p:spPr>
          <a:xfrm>
            <a:off x="869315" y="1932305"/>
            <a:ext cx="10454005" cy="3322955"/>
          </a:xfrm>
          <a:prstGeom prst="rect">
            <a:avLst/>
          </a:prstGeom>
          <a:noFill/>
        </p:spPr>
        <p:txBody>
          <a:bodyPr wrap="square" rtlCol="0">
            <a:spAutoFit/>
          </a:bodyPr>
          <a:lstStyle/>
          <a:p>
            <a:pPr indent="0">
              <a:lnSpc>
                <a:spcPct val="150000"/>
              </a:lnSpc>
              <a:buFont typeface="Wingdings" panose="05000000000000000000" charset="0"/>
              <a:buNone/>
            </a:pPr>
            <a:r>
              <a:rPr lang="zh-CN" altLang="en-US" sz="2000">
                <a:solidFill>
                  <a:schemeClr val="tx1"/>
                </a:solidFill>
                <a:latin typeface="+mj-ea"/>
                <a:ea typeface="+mj-ea"/>
              </a:rPr>
              <a:t>根据《北京市中小学校学生学籍管理办法》（京教基二〔2021〕1号 ）</a:t>
            </a:r>
            <a:r>
              <a:rPr lang="zh-CN" sz="2000">
                <a:latin typeface="+mj-ea"/>
                <a:ea typeface="+mj-ea"/>
                <a:sym typeface="+mn-ea"/>
              </a:rPr>
              <a:t>第二十二条</a:t>
            </a:r>
            <a:r>
              <a:rPr lang="zh-CN" altLang="en-US" sz="2000">
                <a:latin typeface="+mj-ea"/>
                <a:ea typeface="+mj-ea"/>
              </a:rPr>
              <a:t>：　</a:t>
            </a:r>
            <a:endParaRPr lang="zh-CN" altLang="en-US" sz="2000">
              <a:latin typeface="+mj-ea"/>
              <a:ea typeface="+mj-ea"/>
            </a:endParaRPr>
          </a:p>
          <a:p>
            <a:pPr>
              <a:lnSpc>
                <a:spcPct val="150000"/>
              </a:lnSpc>
            </a:pPr>
            <a:r>
              <a:rPr lang="en-US" altLang="zh-CN" sz="2000">
                <a:latin typeface="+mj-ea"/>
                <a:ea typeface="+mj-ea"/>
              </a:rPr>
              <a:t>    </a:t>
            </a:r>
            <a:r>
              <a:rPr lang="zh-CN" altLang="en-US" sz="2000">
                <a:latin typeface="+mj-ea"/>
                <a:ea typeface="+mj-ea"/>
              </a:rPr>
              <a:t>本市户籍</a:t>
            </a:r>
            <a:r>
              <a:rPr lang="zh-CN" altLang="en-US" sz="2000" b="1">
                <a:latin typeface="+mj-ea"/>
                <a:ea typeface="+mj-ea"/>
              </a:rPr>
              <a:t>义务教育阶段</a:t>
            </a:r>
            <a:r>
              <a:rPr lang="zh-CN" altLang="en-US" sz="2000">
                <a:latin typeface="+mj-ea"/>
                <a:ea typeface="+mj-ea"/>
              </a:rPr>
              <a:t>学生符合下列条件之一的，可申请在</a:t>
            </a:r>
            <a:r>
              <a:rPr lang="zh-CN" altLang="en-US" sz="2000">
                <a:solidFill>
                  <a:srgbClr val="FF0000"/>
                </a:solidFill>
                <a:latin typeface="+mj-ea"/>
                <a:ea typeface="+mj-ea"/>
              </a:rPr>
              <a:t>本市内转学</a:t>
            </a:r>
            <a:r>
              <a:rPr lang="zh-CN" altLang="en-US" sz="2000">
                <a:latin typeface="+mj-ea"/>
                <a:ea typeface="+mj-ea"/>
              </a:rPr>
              <a:t>：</a:t>
            </a:r>
            <a:endParaRPr lang="zh-CN" altLang="en-US" sz="2000">
              <a:latin typeface="+mj-ea"/>
              <a:ea typeface="+mj-ea"/>
            </a:endParaRPr>
          </a:p>
          <a:p>
            <a:pPr>
              <a:lnSpc>
                <a:spcPct val="150000"/>
              </a:lnSpc>
            </a:pPr>
            <a:r>
              <a:rPr lang="zh-CN" altLang="en-US" sz="2000">
                <a:latin typeface="+mj-ea"/>
                <a:ea typeface="+mj-ea"/>
              </a:rPr>
              <a:t>（一）</a:t>
            </a:r>
            <a:r>
              <a:rPr lang="zh-CN" altLang="en-US" sz="2000">
                <a:solidFill>
                  <a:schemeClr val="tx1"/>
                </a:solidFill>
                <a:latin typeface="+mj-ea"/>
                <a:ea typeface="+mj-ea"/>
              </a:rPr>
              <a:t>学生户籍随</a:t>
            </a:r>
            <a:r>
              <a:rPr lang="zh-CN" altLang="en-US" sz="2000">
                <a:solidFill>
                  <a:srgbClr val="FF0000"/>
                </a:solidFill>
                <a:latin typeface="+mj-ea"/>
                <a:ea typeface="+mj-ea"/>
              </a:rPr>
              <a:t>父母</a:t>
            </a:r>
            <a:r>
              <a:rPr lang="zh-CN" altLang="en-US" sz="2000">
                <a:solidFill>
                  <a:schemeClr val="tx1"/>
                </a:solidFill>
                <a:latin typeface="+mj-ea"/>
                <a:ea typeface="+mj-ea"/>
              </a:rPr>
              <a:t>或其他法定监护人</a:t>
            </a:r>
            <a:r>
              <a:rPr lang="zh-CN" altLang="en-US" sz="2000">
                <a:solidFill>
                  <a:srgbClr val="FF0000"/>
                </a:solidFill>
                <a:latin typeface="+mj-ea"/>
                <a:ea typeface="+mj-ea"/>
              </a:rPr>
              <a:t>户籍</a:t>
            </a:r>
            <a:r>
              <a:rPr lang="zh-CN" altLang="en-US" sz="2000">
                <a:solidFill>
                  <a:schemeClr val="tx1"/>
                </a:solidFill>
                <a:latin typeface="+mj-ea"/>
                <a:ea typeface="+mj-ea"/>
              </a:rPr>
              <a:t>在市内</a:t>
            </a:r>
            <a:r>
              <a:rPr lang="zh-CN" altLang="en-US" sz="2000">
                <a:solidFill>
                  <a:srgbClr val="FF0000"/>
                </a:solidFill>
                <a:latin typeface="+mj-ea"/>
                <a:ea typeface="+mj-ea"/>
              </a:rPr>
              <a:t>迁移</a:t>
            </a:r>
            <a:r>
              <a:rPr lang="zh-CN" altLang="en-US" sz="2000">
                <a:solidFill>
                  <a:schemeClr val="tx1"/>
                </a:solidFill>
                <a:latin typeface="+mj-ea"/>
                <a:ea typeface="+mj-ea"/>
              </a:rPr>
              <a:t>，新户籍所在地不在原就读学校服务范围的；</a:t>
            </a:r>
            <a:endParaRPr lang="zh-CN" altLang="en-US" sz="2000">
              <a:solidFill>
                <a:schemeClr val="tx1"/>
              </a:solidFill>
              <a:latin typeface="+mj-ea"/>
              <a:ea typeface="+mj-ea"/>
            </a:endParaRPr>
          </a:p>
          <a:p>
            <a:pPr>
              <a:lnSpc>
                <a:spcPct val="150000"/>
              </a:lnSpc>
            </a:pPr>
            <a:r>
              <a:rPr lang="zh-CN" altLang="en-US" sz="2000">
                <a:solidFill>
                  <a:schemeClr val="tx1"/>
                </a:solidFill>
                <a:latin typeface="+mj-ea"/>
                <a:ea typeface="+mj-ea"/>
              </a:rPr>
              <a:t>（二）学生随</a:t>
            </a:r>
            <a:r>
              <a:rPr lang="zh-CN" altLang="en-US" sz="2000">
                <a:solidFill>
                  <a:srgbClr val="FF0000"/>
                </a:solidFill>
                <a:latin typeface="+mj-ea"/>
                <a:ea typeface="+mj-ea"/>
              </a:rPr>
              <a:t>父母</a:t>
            </a:r>
            <a:r>
              <a:rPr lang="zh-CN" altLang="en-US" sz="2000">
                <a:solidFill>
                  <a:schemeClr val="tx1"/>
                </a:solidFill>
                <a:latin typeface="+mj-ea"/>
                <a:ea typeface="+mj-ea"/>
              </a:rPr>
              <a:t>或其他法定监护人</a:t>
            </a:r>
            <a:r>
              <a:rPr lang="zh-CN" altLang="en-US" sz="2000">
                <a:solidFill>
                  <a:srgbClr val="FF0000"/>
                </a:solidFill>
                <a:latin typeface="+mj-ea"/>
                <a:ea typeface="+mj-ea"/>
              </a:rPr>
              <a:t>实际居住地</a:t>
            </a:r>
            <a:r>
              <a:rPr lang="zh-CN" altLang="en-US" sz="2000">
                <a:solidFill>
                  <a:schemeClr val="tx1"/>
                </a:solidFill>
                <a:latin typeface="+mj-ea"/>
                <a:ea typeface="+mj-ea"/>
              </a:rPr>
              <a:t>在市内变更，变更后的居住地不在原就读学校服务范围的；</a:t>
            </a:r>
            <a:endParaRPr lang="zh-CN" altLang="en-US" sz="2000">
              <a:solidFill>
                <a:schemeClr val="tx1"/>
              </a:solidFill>
              <a:latin typeface="+mj-ea"/>
              <a:ea typeface="+mj-ea"/>
            </a:endParaRPr>
          </a:p>
          <a:p>
            <a:pPr>
              <a:lnSpc>
                <a:spcPct val="150000"/>
              </a:lnSpc>
            </a:pPr>
            <a:r>
              <a:rPr lang="zh-CN" altLang="en-US" sz="2000">
                <a:latin typeface="+mj-ea"/>
                <a:ea typeface="+mj-ea"/>
              </a:rPr>
              <a:t>（三）其他特殊原因确需转学的。</a:t>
            </a:r>
            <a:endParaRPr lang="zh-CN" sz="2000" b="1">
              <a:solidFill>
                <a:schemeClr val="tx1"/>
              </a:solidFill>
              <a:latin typeface="+mj-ea"/>
              <a:ea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2915"/>
            <a:ext cx="7931150" cy="78486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5500370"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转学条件（义教阶段本市户籍学生）</a:t>
            </a:r>
            <a:endParaRPr lang="zh-CN" altLang="en-US" sz="2400" dirty="0">
              <a:solidFill>
                <a:schemeClr val="bg1"/>
              </a:solidFill>
            </a:endParaRPr>
          </a:p>
        </p:txBody>
      </p:sp>
      <p:sp>
        <p:nvSpPr>
          <p:cNvPr id="8" name="文本框 7"/>
          <p:cNvSpPr txBox="true"/>
          <p:nvPr/>
        </p:nvSpPr>
        <p:spPr>
          <a:xfrm>
            <a:off x="939800" y="1295400"/>
            <a:ext cx="10312400" cy="4831080"/>
          </a:xfrm>
          <a:prstGeom prst="rect">
            <a:avLst/>
          </a:prstGeom>
          <a:noFill/>
        </p:spPr>
        <p:txBody>
          <a:bodyPr wrap="square" rtlCol="0">
            <a:spAutoFit/>
          </a:bodyPr>
          <a:lstStyle/>
          <a:p>
            <a:pPr marL="342900" indent="-342900">
              <a:lnSpc>
                <a:spcPct val="140000"/>
              </a:lnSpc>
              <a:buFont typeface="Wingdings" panose="05000000000000000000" charset="0"/>
              <a:buChar char=""/>
            </a:pPr>
            <a:r>
              <a:rPr lang="en-US" altLang="zh-CN" sz="2000" dirty="0" err="1">
                <a:solidFill>
                  <a:schemeClr val="tx1"/>
                </a:solidFill>
                <a:latin typeface="微软雅黑" panose="020B0503020204020204" charset="-122"/>
                <a:ea typeface="微软雅黑" panose="020B0503020204020204" charset="-122"/>
              </a:rPr>
              <a:t>从</a:t>
            </a:r>
            <a:r>
              <a:rPr lang="en-US" altLang="zh-CN" sz="2000" b="1" dirty="0" err="1">
                <a:solidFill>
                  <a:schemeClr val="tx1"/>
                </a:solidFill>
                <a:latin typeface="微软雅黑" panose="020B0503020204020204" charset="-122"/>
                <a:ea typeface="微软雅黑" panose="020B0503020204020204" charset="-122"/>
              </a:rPr>
              <a:t>外省市</a:t>
            </a:r>
            <a:r>
              <a:rPr lang="en-US" altLang="zh-CN" sz="2000" dirty="0" err="1">
                <a:solidFill>
                  <a:schemeClr val="tx1"/>
                </a:solidFill>
                <a:latin typeface="微软雅黑" panose="020B0503020204020204" charset="-122"/>
                <a:ea typeface="微软雅黑" panose="020B0503020204020204" charset="-122"/>
              </a:rPr>
              <a:t>转入</a:t>
            </a:r>
            <a:endParaRPr lang="en-US" altLang="zh-CN" sz="2000" dirty="0">
              <a:solidFill>
                <a:schemeClr val="tx1"/>
              </a:solidFill>
              <a:latin typeface="微软雅黑" panose="020B0503020204020204" charset="-122"/>
              <a:ea typeface="微软雅黑" panose="020B0503020204020204" charset="-122"/>
            </a:endParaRPr>
          </a:p>
          <a:p>
            <a:pPr indent="0">
              <a:lnSpc>
                <a:spcPct val="140000"/>
              </a:lnSpc>
              <a:buFont typeface="Wingdings" panose="05000000000000000000" charset="0"/>
              <a:buNone/>
            </a:pPr>
            <a:r>
              <a:rPr lang="en-US" altLang="zh-CN" sz="2000" dirty="0">
                <a:solidFill>
                  <a:schemeClr val="tx1"/>
                </a:solidFill>
                <a:latin typeface="微软雅黑" panose="020B0503020204020204" charset="-122"/>
                <a:ea typeface="微软雅黑" panose="020B0503020204020204" charset="-122"/>
              </a:rPr>
              <a:t>   1.</a:t>
            </a:r>
            <a:r>
              <a:rPr lang="zh-CN" altLang="en-US" sz="2000" b="1" dirty="0">
                <a:solidFill>
                  <a:srgbClr val="FF0000"/>
                </a:solidFill>
                <a:latin typeface="微软雅黑" panose="020B0503020204020204" charset="-122"/>
                <a:ea typeface="微软雅黑" panose="020B0503020204020204" charset="-122"/>
              </a:rPr>
              <a:t>学生</a:t>
            </a:r>
            <a:r>
              <a:rPr lang="zh-CN" altLang="en-US" sz="2000" dirty="0">
                <a:solidFill>
                  <a:srgbClr val="FF0000"/>
                </a:solidFill>
                <a:latin typeface="微软雅黑" panose="020B0503020204020204" charset="-122"/>
                <a:ea typeface="微软雅黑" panose="020B0503020204020204" charset="-122"/>
              </a:rPr>
              <a:t>的户籍</a:t>
            </a:r>
            <a:r>
              <a:rPr lang="zh-CN" altLang="en-US" sz="2000" dirty="0">
                <a:solidFill>
                  <a:schemeClr val="tx1"/>
                </a:solidFill>
                <a:latin typeface="微软雅黑" panose="020B0503020204020204" charset="-122"/>
                <a:ea typeface="微软雅黑" panose="020B0503020204020204" charset="-122"/>
              </a:rPr>
              <a:t>在门头沟区：上传户主页与学生本人页。</a:t>
            </a:r>
            <a:endParaRPr lang="zh-CN" altLang="en-US"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b="1" dirty="0">
                <a:solidFill>
                  <a:schemeClr val="tx1"/>
                </a:solidFill>
                <a:latin typeface="微软雅黑" panose="020B0503020204020204" charset="-122"/>
                <a:ea typeface="微软雅黑" panose="020B0503020204020204" charset="-122"/>
              </a:rPr>
              <a:t>   2.</a:t>
            </a:r>
            <a:r>
              <a:rPr lang="zh-CN" altLang="en-US" sz="2000" b="1" dirty="0">
                <a:solidFill>
                  <a:srgbClr val="FF0000"/>
                </a:solidFill>
                <a:latin typeface="微软雅黑" panose="020B0503020204020204" charset="-122"/>
                <a:ea typeface="微软雅黑" panose="020B0503020204020204" charset="-122"/>
              </a:rPr>
              <a:t>法定监护人</a:t>
            </a:r>
            <a:r>
              <a:rPr lang="zh-CN" altLang="en-US" sz="2000" dirty="0">
                <a:solidFill>
                  <a:srgbClr val="FF0000"/>
                </a:solidFill>
                <a:latin typeface="微软雅黑" panose="020B0503020204020204" charset="-122"/>
                <a:ea typeface="微软雅黑" panose="020B0503020204020204" charset="-122"/>
              </a:rPr>
              <a:t>的房产</a:t>
            </a:r>
            <a:r>
              <a:rPr lang="zh-CN" altLang="en-US" sz="2000" dirty="0">
                <a:solidFill>
                  <a:schemeClr val="tx1"/>
                </a:solidFill>
                <a:latin typeface="微软雅黑" panose="020B0503020204020204" charset="-122"/>
                <a:ea typeface="微软雅黑" panose="020B0503020204020204" charset="-122"/>
              </a:rPr>
              <a:t>在门头沟区：上传户主页与学生本人页（</a:t>
            </a:r>
            <a:r>
              <a:rPr lang="zh-CN" altLang="en-US" sz="2000" dirty="0">
                <a:latin typeface="微软雅黑" panose="020B0503020204020204" charset="-122"/>
                <a:ea typeface="微软雅黑" panose="020B0503020204020204" charset="-122"/>
                <a:sym typeface="+mn-ea"/>
              </a:rPr>
              <a:t>、法定监护人与学生的亲子关系证明材料</a:t>
            </a:r>
            <a:r>
              <a:rPr lang="zh-CN" altLang="en-US" sz="2000" dirty="0">
                <a:solidFill>
                  <a:schemeClr val="tx1"/>
                </a:solidFill>
                <a:latin typeface="微软雅黑" panose="020B0503020204020204" charset="-122"/>
                <a:ea typeface="微软雅黑" panose="020B0503020204020204" charset="-122"/>
              </a:rPr>
              <a:t>）</a:t>
            </a:r>
            <a:r>
              <a:rPr lang="en-US" altLang="zh-CN" sz="2000" dirty="0">
                <a:solidFill>
                  <a:schemeClr val="tx1"/>
                </a:solidFill>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sym typeface="+mn-ea"/>
              </a:rPr>
              <a:t>法定监护人的房产证（购房合同和购房发票）。</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rPr>
              <a:t>从</a:t>
            </a:r>
            <a:r>
              <a:rPr lang="zh-CN" altLang="en-US" sz="2000" b="1" dirty="0">
                <a:solidFill>
                  <a:schemeClr val="tx1"/>
                </a:solidFill>
                <a:latin typeface="微软雅黑" panose="020B0503020204020204" charset="-122"/>
                <a:ea typeface="微软雅黑" panose="020B0503020204020204" charset="-122"/>
                <a:sym typeface="+mn-ea"/>
              </a:rPr>
              <a:t>本市其他区或</a:t>
            </a:r>
            <a:r>
              <a:rPr lang="en-US" altLang="zh-CN" sz="2000" b="1" dirty="0" err="1">
                <a:solidFill>
                  <a:schemeClr val="tx1"/>
                </a:solidFill>
                <a:latin typeface="微软雅黑" panose="020B0503020204020204" charset="-122"/>
                <a:ea typeface="微软雅黑" panose="020B0503020204020204" charset="-122"/>
              </a:rPr>
              <a:t>本区</a:t>
            </a:r>
            <a:r>
              <a:rPr lang="en-US" altLang="zh-CN" sz="2000" dirty="0" err="1">
                <a:solidFill>
                  <a:schemeClr val="tx1"/>
                </a:solidFill>
                <a:latin typeface="微软雅黑" panose="020B0503020204020204" charset="-122"/>
                <a:ea typeface="微软雅黑" panose="020B0503020204020204" charset="-122"/>
              </a:rPr>
              <a:t>转入</a:t>
            </a:r>
            <a:r>
              <a:rPr lang="en-US" altLang="zh-CN" sz="2000" dirty="0">
                <a:solidFill>
                  <a:schemeClr val="tx1"/>
                </a:solidFill>
                <a:latin typeface="微软雅黑" panose="020B0503020204020204" charset="-122"/>
                <a:ea typeface="微软雅黑" panose="020B0503020204020204" charset="-122"/>
              </a:rPr>
              <a:t> </a:t>
            </a:r>
            <a:endParaRPr lang="en-US" altLang="zh-CN" sz="2000" dirty="0">
              <a:solidFill>
                <a:schemeClr val="tx1"/>
              </a:solidFill>
              <a:latin typeface="微软雅黑" panose="020B0503020204020204" charset="-122"/>
              <a:ea typeface="微软雅黑" panose="020B0503020204020204" charset="-122"/>
            </a:endParaRPr>
          </a:p>
          <a:p>
            <a:pPr indent="0">
              <a:lnSpc>
                <a:spcPct val="140000"/>
              </a:lnSpc>
              <a:buFont typeface="Wingdings" panose="05000000000000000000" charset="0"/>
              <a:buNone/>
            </a:pPr>
            <a:r>
              <a:rPr lang="en-US" altLang="zh-CN" sz="2000" dirty="0">
                <a:solidFill>
                  <a:schemeClr val="tx1"/>
                </a:solidFill>
                <a:latin typeface="微软雅黑" panose="020B0503020204020204" charset="-122"/>
                <a:ea typeface="微软雅黑" panose="020B0503020204020204" charset="-122"/>
              </a:rPr>
              <a:t>   1.</a:t>
            </a:r>
            <a:r>
              <a:rPr lang="zh-CN" altLang="en-US" sz="2000" dirty="0">
                <a:solidFill>
                  <a:srgbClr val="FF0000"/>
                </a:solidFill>
                <a:latin typeface="微软雅黑" panose="020B0503020204020204" charset="-122"/>
                <a:ea typeface="微软雅黑" panose="020B0503020204020204" charset="-122"/>
              </a:rPr>
              <a:t>学生的户籍随</a:t>
            </a:r>
            <a:r>
              <a:rPr lang="zh-CN" altLang="en-US" sz="2000" b="1" dirty="0">
                <a:solidFill>
                  <a:srgbClr val="FF0000"/>
                </a:solidFill>
                <a:latin typeface="微软雅黑" panose="020B0503020204020204" charset="-122"/>
                <a:ea typeface="微软雅黑" panose="020B0503020204020204" charset="-122"/>
              </a:rPr>
              <a:t>法定监护人</a:t>
            </a:r>
            <a:r>
              <a:rPr lang="zh-CN" altLang="en-US" sz="2000" dirty="0">
                <a:solidFill>
                  <a:srgbClr val="FF0000"/>
                </a:solidFill>
                <a:latin typeface="微软雅黑" panose="020B0503020204020204" charset="-122"/>
                <a:ea typeface="微软雅黑" panose="020B0503020204020204" charset="-122"/>
              </a:rPr>
              <a:t>变更</a:t>
            </a:r>
            <a:r>
              <a:rPr lang="zh-CN" altLang="en-US" sz="2000" dirty="0">
                <a:solidFill>
                  <a:schemeClr val="tx1"/>
                </a:solidFill>
                <a:latin typeface="微软雅黑" panose="020B0503020204020204" charset="-122"/>
                <a:ea typeface="微软雅黑" panose="020B0503020204020204" charset="-122"/>
              </a:rPr>
              <a:t>至门头沟区：</a:t>
            </a:r>
            <a:r>
              <a:rPr lang="zh-CN" altLang="en-US" sz="2000" dirty="0">
                <a:latin typeface="微软雅黑" panose="020B0503020204020204" charset="-122"/>
                <a:ea typeface="微软雅黑" panose="020B0503020204020204" charset="-122"/>
                <a:sym typeface="+mn-ea"/>
              </a:rPr>
              <a:t>上传法定监护人户口本首页（法定监护人不是户主的，还需提供与学生本人同户口本父或母的户口页）和学生本人页。</a:t>
            </a:r>
            <a:endParaRPr lang="zh-CN" altLang="en-US"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dirty="0">
                <a:latin typeface="微软雅黑" panose="020B0503020204020204" charset="-122"/>
                <a:ea typeface="微软雅黑" panose="020B0503020204020204" charset="-122"/>
                <a:sym typeface="+mn-ea"/>
              </a:rPr>
              <a:t>   2.</a:t>
            </a:r>
            <a:r>
              <a:rPr lang="zh-CN" altLang="en-US" sz="2000" dirty="0">
                <a:solidFill>
                  <a:srgbClr val="FF0000"/>
                </a:solidFill>
                <a:latin typeface="微软雅黑" panose="020B0503020204020204" charset="-122"/>
                <a:ea typeface="微软雅黑" panose="020B0503020204020204" charset="-122"/>
                <a:sym typeface="+mn-ea"/>
              </a:rPr>
              <a:t>学生随</a:t>
            </a:r>
            <a:r>
              <a:rPr lang="zh-CN" altLang="en-US" sz="2000" b="1" dirty="0">
                <a:solidFill>
                  <a:srgbClr val="FF0000"/>
                </a:solidFill>
                <a:latin typeface="微软雅黑" panose="020B0503020204020204" charset="-122"/>
                <a:ea typeface="微软雅黑" panose="020B0503020204020204" charset="-122"/>
                <a:sym typeface="+mn-ea"/>
              </a:rPr>
              <a:t>法定监护人</a:t>
            </a:r>
            <a:r>
              <a:rPr lang="zh-CN" altLang="en-US" sz="2000" dirty="0">
                <a:solidFill>
                  <a:srgbClr val="FF0000"/>
                </a:solidFill>
                <a:latin typeface="微软雅黑" panose="020B0503020204020204" charset="-122"/>
                <a:ea typeface="微软雅黑" panose="020B0503020204020204" charset="-122"/>
                <a:sym typeface="+mn-ea"/>
              </a:rPr>
              <a:t>的房产变更</a:t>
            </a:r>
            <a:r>
              <a:rPr lang="zh-CN" altLang="en-US" sz="2000" dirty="0">
                <a:latin typeface="微软雅黑" panose="020B0503020204020204" charset="-122"/>
                <a:ea typeface="微软雅黑" panose="020B0503020204020204" charset="-122"/>
                <a:sym typeface="+mn-ea"/>
              </a:rPr>
              <a:t>至门头沟区：上传户主页与学生本人页（、法定监护人与学生的亲子关系证明材料）</a:t>
            </a:r>
            <a:r>
              <a:rPr lang="en-US" altLang="zh-CN" sz="2000" dirty="0">
                <a:latin typeface="微软雅黑" panose="020B0503020204020204" charset="-122"/>
                <a:ea typeface="微软雅黑" panose="020B0503020204020204" charset="-122"/>
                <a:sym typeface="+mn-ea"/>
              </a:rPr>
              <a:t>+</a:t>
            </a:r>
            <a:r>
              <a:rPr lang="zh-CN" altLang="en-US" sz="2000" dirty="0">
                <a:latin typeface="微软雅黑" panose="020B0503020204020204" charset="-122"/>
                <a:ea typeface="微软雅黑" panose="020B0503020204020204" charset="-122"/>
                <a:sym typeface="+mn-ea"/>
              </a:rPr>
              <a:t>法定监护人的房产证（购房合同和购房发票）。</a:t>
            </a:r>
            <a:endParaRPr lang="zh-CN" altLang="en-US" sz="2000" dirty="0">
              <a:latin typeface="微软雅黑" panose="020B0503020204020204" charset="-122"/>
              <a:ea typeface="微软雅黑" panose="020B0503020204020204" charset="-122"/>
              <a:sym typeface="+mn-ea"/>
            </a:endParaRPr>
          </a:p>
          <a:p>
            <a:pPr>
              <a:lnSpc>
                <a:spcPct val="140000"/>
              </a:lnSpc>
            </a:pPr>
            <a:r>
              <a:rPr lang="en-US" altLang="zh-CN" sz="2000" dirty="0">
                <a:latin typeface="微软雅黑" panose="020B0503020204020204" charset="-122"/>
                <a:ea typeface="微软雅黑" panose="020B0503020204020204" charset="-122"/>
                <a:sym typeface="+mn-ea"/>
              </a:rPr>
              <a:t>   3.</a:t>
            </a:r>
            <a:r>
              <a:rPr lang="zh-CN" altLang="en-US" sz="2000" dirty="0">
                <a:latin typeface="微软雅黑" panose="020B0503020204020204" charset="-122"/>
                <a:ea typeface="微软雅黑" panose="020B0503020204020204" charset="-122"/>
                <a:sym typeface="+mn-ea"/>
              </a:rPr>
              <a:t>特殊原因：上传户主页与学生本人页（、法定监护人与学生的亲子关系证明材料）</a:t>
            </a:r>
            <a:r>
              <a:rPr lang="en-US" altLang="zh-CN" sz="2000" dirty="0">
                <a:latin typeface="微软雅黑" panose="020B0503020204020204" charset="-122"/>
                <a:ea typeface="微软雅黑" panose="020B0503020204020204" charset="-122"/>
                <a:sym typeface="+mn-ea"/>
              </a:rPr>
              <a:t>+</a:t>
            </a:r>
            <a:r>
              <a:rPr lang="zh-CN" altLang="en-US" sz="2000" dirty="0">
                <a:latin typeface="微软雅黑" panose="020B0503020204020204" charset="-122"/>
                <a:ea typeface="微软雅黑" panose="020B0503020204020204" charset="-122"/>
                <a:sym typeface="+mn-ea"/>
              </a:rPr>
              <a:t>重大疾病或家庭重大变故的证明材料。</a:t>
            </a:r>
            <a:endParaRPr lang="zh-CN" altLang="en-US" sz="20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8" name="文本框 7"/>
          <p:cNvSpPr txBox="true"/>
          <p:nvPr/>
        </p:nvSpPr>
        <p:spPr>
          <a:xfrm>
            <a:off x="1425575" y="1625600"/>
            <a:ext cx="9340850" cy="4246245"/>
          </a:xfrm>
          <a:prstGeom prst="rect">
            <a:avLst/>
          </a:prstGeom>
          <a:noFill/>
        </p:spPr>
        <p:txBody>
          <a:bodyPr wrap="square" rtlCol="0">
            <a:spAutoFit/>
          </a:bodyPr>
          <a:lstStyle/>
          <a:p>
            <a:pPr indent="0">
              <a:lnSpc>
                <a:spcPct val="150000"/>
              </a:lnSpc>
              <a:buFont typeface="Wingdings" panose="05000000000000000000" charset="0"/>
              <a:buNone/>
            </a:pPr>
            <a:r>
              <a:rPr lang="zh-CN" altLang="en-US" sz="2000">
                <a:solidFill>
                  <a:schemeClr val="tx1"/>
                </a:solidFill>
                <a:latin typeface="+mj-ea"/>
                <a:ea typeface="+mj-ea"/>
              </a:rPr>
              <a:t>根据《北京市中小学校学生学籍管理办法》（京教基二〔2021〕1号 ）</a:t>
            </a:r>
            <a:r>
              <a:rPr lang="zh-CN" sz="2000">
                <a:latin typeface="+mj-ea"/>
                <a:ea typeface="+mj-ea"/>
                <a:sym typeface="+mn-ea"/>
              </a:rPr>
              <a:t>第十五条</a:t>
            </a:r>
            <a:r>
              <a:rPr lang="zh-CN" altLang="en-US" sz="2000">
                <a:latin typeface="+mj-ea"/>
                <a:ea typeface="+mj-ea"/>
              </a:rPr>
              <a:t>：　</a:t>
            </a:r>
            <a:endParaRPr lang="zh-CN" altLang="en-US" sz="2000">
              <a:latin typeface="+mj-ea"/>
              <a:ea typeface="+mj-ea"/>
            </a:endParaRPr>
          </a:p>
          <a:p>
            <a:pPr indent="0" algn="just">
              <a:lnSpc>
                <a:spcPct val="150000"/>
              </a:lnSpc>
              <a:buFont typeface="Wingdings" panose="05000000000000000000" charset="0"/>
              <a:buNone/>
            </a:pPr>
            <a:r>
              <a:rPr lang="en-US" altLang="zh-CN" sz="2000">
                <a:latin typeface="+mj-ea"/>
                <a:ea typeface="+mj-ea"/>
                <a:sym typeface="+mn-ea"/>
              </a:rPr>
              <a:t>    </a:t>
            </a:r>
            <a:r>
              <a:rPr lang="zh-CN" sz="2000">
                <a:latin typeface="+mj-ea"/>
                <a:ea typeface="+mj-ea"/>
                <a:sym typeface="+mn-ea"/>
              </a:rPr>
              <a:t>符合下列情形之一的，按本市户籍学生对待： </a:t>
            </a:r>
            <a:endParaRPr lang="zh-CN" sz="2000">
              <a:latin typeface="+mj-ea"/>
              <a:ea typeface="+mj-ea"/>
            </a:endParaRPr>
          </a:p>
          <a:p>
            <a:pPr indent="0" algn="just">
              <a:lnSpc>
                <a:spcPct val="150000"/>
              </a:lnSpc>
              <a:buFont typeface="Wingdings" panose="05000000000000000000" charset="0"/>
              <a:buNone/>
            </a:pPr>
            <a:r>
              <a:rPr lang="zh-CN" sz="2000">
                <a:latin typeface="+mj-ea"/>
                <a:ea typeface="+mj-ea"/>
                <a:sym typeface="+mn-ea"/>
              </a:rPr>
              <a:t>（一）区台办认定的台胞子女；</a:t>
            </a:r>
            <a:endParaRPr lang="zh-CN" sz="2000">
              <a:latin typeface="+mj-ea"/>
              <a:ea typeface="+mj-ea"/>
            </a:endParaRPr>
          </a:p>
          <a:p>
            <a:pPr indent="0" algn="just">
              <a:lnSpc>
                <a:spcPct val="150000"/>
              </a:lnSpc>
              <a:buFont typeface="Wingdings" panose="05000000000000000000" charset="0"/>
              <a:buNone/>
            </a:pPr>
            <a:r>
              <a:rPr lang="zh-CN" sz="2000">
                <a:latin typeface="+mj-ea"/>
                <a:ea typeface="+mj-ea"/>
                <a:sym typeface="+mn-ea"/>
              </a:rPr>
              <a:t>（二）国家或北京市博士后管理部门认定的在京在站博士后研究人员子女；</a:t>
            </a:r>
            <a:endParaRPr lang="zh-CN" sz="2000">
              <a:solidFill>
                <a:schemeClr val="tx1"/>
              </a:solidFill>
              <a:latin typeface="+mj-ea"/>
              <a:ea typeface="+mj-ea"/>
            </a:endParaRPr>
          </a:p>
          <a:p>
            <a:pPr indent="0" algn="just">
              <a:lnSpc>
                <a:spcPct val="150000"/>
              </a:lnSpc>
              <a:buFont typeface="Wingdings" panose="05000000000000000000" charset="0"/>
              <a:buNone/>
            </a:pPr>
            <a:r>
              <a:rPr lang="zh-CN" sz="2000">
                <a:latin typeface="+mj-ea"/>
                <a:ea typeface="+mj-ea"/>
                <a:sym typeface="+mn-ea"/>
              </a:rPr>
              <a:t>（三）符合随军进京落户条件正在办理随军手续的现役军人子女；</a:t>
            </a:r>
            <a:endParaRPr lang="zh-CN" sz="2000">
              <a:solidFill>
                <a:schemeClr val="tx1"/>
              </a:solidFill>
              <a:latin typeface="+mj-ea"/>
              <a:ea typeface="+mj-ea"/>
            </a:endParaRPr>
          </a:p>
          <a:p>
            <a:pPr indent="0" algn="just">
              <a:lnSpc>
                <a:spcPct val="150000"/>
              </a:lnSpc>
              <a:buFont typeface="Wingdings" panose="05000000000000000000" charset="0"/>
              <a:buNone/>
            </a:pPr>
            <a:r>
              <a:rPr lang="zh-CN" sz="2000">
                <a:latin typeface="+mj-ea"/>
                <a:ea typeface="+mj-ea"/>
                <a:sym typeface="+mn-ea"/>
              </a:rPr>
              <a:t>（四）区侨务部门认定的华侨子女；</a:t>
            </a:r>
            <a:endParaRPr lang="zh-CN" sz="2000">
              <a:latin typeface="+mj-ea"/>
              <a:ea typeface="+mj-ea"/>
            </a:endParaRPr>
          </a:p>
          <a:p>
            <a:pPr indent="0" algn="just">
              <a:lnSpc>
                <a:spcPct val="150000"/>
              </a:lnSpc>
              <a:buFont typeface="Wingdings" panose="05000000000000000000" charset="0"/>
              <a:buNone/>
            </a:pPr>
            <a:r>
              <a:rPr lang="zh-CN" sz="2000">
                <a:latin typeface="+mj-ea"/>
                <a:ea typeface="+mj-ea"/>
                <a:sym typeface="+mn-ea"/>
              </a:rPr>
              <a:t>（五）</a:t>
            </a:r>
            <a:r>
              <a:rPr lang="zh-CN" sz="2000">
                <a:solidFill>
                  <a:srgbClr val="FF0000"/>
                </a:solidFill>
                <a:latin typeface="+mj-ea"/>
                <a:ea typeface="+mj-ea"/>
                <a:sym typeface="+mn-ea"/>
              </a:rPr>
              <a:t>父母一方有本市常住户籍</a:t>
            </a:r>
            <a:r>
              <a:rPr lang="zh-CN" sz="2000">
                <a:latin typeface="+mj-ea"/>
                <a:ea typeface="+mj-ea"/>
                <a:sym typeface="+mn-ea"/>
              </a:rPr>
              <a:t>；</a:t>
            </a:r>
            <a:endParaRPr lang="zh-CN" sz="2000">
              <a:latin typeface="+mj-ea"/>
              <a:ea typeface="+mj-ea"/>
            </a:endParaRPr>
          </a:p>
          <a:p>
            <a:pPr indent="0" algn="just">
              <a:lnSpc>
                <a:spcPct val="150000"/>
              </a:lnSpc>
              <a:buFont typeface="Wingdings" panose="05000000000000000000" charset="0"/>
              <a:buNone/>
            </a:pPr>
            <a:r>
              <a:rPr lang="zh-CN" sz="2000">
                <a:latin typeface="+mj-ea"/>
                <a:ea typeface="+mj-ea"/>
                <a:sym typeface="+mn-ea"/>
              </a:rPr>
              <a:t>（六）</a:t>
            </a:r>
            <a:r>
              <a:rPr lang="zh-CN" sz="2000">
                <a:solidFill>
                  <a:srgbClr val="FF0000"/>
                </a:solidFill>
                <a:latin typeface="+mj-ea"/>
                <a:ea typeface="+mj-ea"/>
                <a:sym typeface="+mn-ea"/>
              </a:rPr>
              <a:t>父母一方持有《北京市工作居住证》</a:t>
            </a:r>
            <a:r>
              <a:rPr lang="zh-CN" sz="2000">
                <a:latin typeface="+mj-ea"/>
                <a:ea typeface="+mj-ea"/>
                <a:sym typeface="+mn-ea"/>
              </a:rPr>
              <a:t>；</a:t>
            </a:r>
            <a:endParaRPr lang="zh-CN" sz="2000">
              <a:latin typeface="+mj-ea"/>
              <a:ea typeface="+mj-ea"/>
            </a:endParaRPr>
          </a:p>
          <a:p>
            <a:pPr indent="0" algn="just">
              <a:lnSpc>
                <a:spcPct val="150000"/>
              </a:lnSpc>
              <a:buFont typeface="Wingdings" panose="05000000000000000000" charset="0"/>
              <a:buNone/>
            </a:pPr>
            <a:r>
              <a:rPr lang="zh-CN" sz="2000">
                <a:latin typeface="+mj-ea"/>
                <a:ea typeface="+mj-ea"/>
                <a:sym typeface="+mn-ea"/>
              </a:rPr>
              <a:t>（七）其他符合国家和本市有关政策规定的情形。</a:t>
            </a:r>
            <a:endParaRPr lang="zh-CN" sz="2000" b="1">
              <a:solidFill>
                <a:schemeClr val="tx1"/>
              </a:solidFill>
              <a:latin typeface="+mj-ea"/>
              <a:ea typeface="+mj-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2915"/>
            <a:ext cx="8953500" cy="78486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6414770" cy="489585"/>
          </a:xfrm>
          <a:prstGeom prst="rect">
            <a:avLst/>
          </a:prstGeom>
          <a:noFill/>
        </p:spPr>
        <p:txBody>
          <a:bodyPr wrap="none" lIns="121917" tIns="60958" rIns="121917" bIns="60958" rtlCol="0">
            <a:spAutoFit/>
          </a:bodyPr>
          <a:lstStyle/>
          <a:p>
            <a:pPr algn="l"/>
            <a:r>
              <a:rPr lang="en-US" altLang="zh-CN" sz="2400" dirty="0">
                <a:solidFill>
                  <a:schemeClr val="bg1"/>
                </a:solidFill>
              </a:rPr>
              <a:t>02 </a:t>
            </a:r>
            <a:r>
              <a:rPr lang="zh-CN" altLang="en-US" sz="2400" dirty="0">
                <a:solidFill>
                  <a:schemeClr val="bg1"/>
                </a:solidFill>
              </a:rPr>
              <a:t>转学条件（义教阶段</a:t>
            </a:r>
            <a:r>
              <a:rPr lang="zh-CN" altLang="en-US" sz="2400" dirty="0">
                <a:solidFill>
                  <a:schemeClr val="bg1"/>
                </a:solidFill>
                <a:sym typeface="+mn-ea"/>
              </a:rPr>
              <a:t>按本市户籍对待学生</a:t>
            </a:r>
            <a:r>
              <a:rPr lang="zh-CN" altLang="en-US" sz="2400" dirty="0">
                <a:solidFill>
                  <a:schemeClr val="bg1"/>
                </a:solidFill>
              </a:rPr>
              <a:t>）</a:t>
            </a:r>
            <a:endParaRPr lang="zh-CN" altLang="en-US" sz="2400" dirty="0">
              <a:solidFill>
                <a:schemeClr val="bg1"/>
              </a:solidFill>
            </a:endParaRPr>
          </a:p>
        </p:txBody>
      </p:sp>
      <p:sp>
        <p:nvSpPr>
          <p:cNvPr id="8" name="文本框 7"/>
          <p:cNvSpPr txBox="true"/>
          <p:nvPr/>
        </p:nvSpPr>
        <p:spPr>
          <a:xfrm>
            <a:off x="1032510" y="1483360"/>
            <a:ext cx="10126980" cy="4399915"/>
          </a:xfrm>
          <a:prstGeom prst="rect">
            <a:avLst/>
          </a:prstGeom>
          <a:noFill/>
        </p:spPr>
        <p:txBody>
          <a:bodyPr wrap="square" rtlCol="0">
            <a:spAutoFit/>
          </a:bodyPr>
          <a:lstStyle/>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父母一方</a:t>
            </a:r>
            <a:r>
              <a:rPr lang="zh-CN" altLang="en-US" sz="2000" b="1" dirty="0">
                <a:solidFill>
                  <a:schemeClr val="tx1"/>
                </a:solidFill>
                <a:latin typeface="微软雅黑" panose="020B0503020204020204" charset="-122"/>
                <a:ea typeface="微软雅黑" panose="020B0503020204020204" charset="-122"/>
                <a:sym typeface="+mn-ea"/>
              </a:rPr>
              <a:t>有本市常住户籍</a:t>
            </a:r>
            <a:endParaRPr lang="zh-CN" altLang="en-US" sz="2000" b="1" dirty="0">
              <a:solidFill>
                <a:schemeClr val="tx1"/>
              </a:solidFill>
              <a:latin typeface="微软雅黑" panose="020B0503020204020204" charset="-122"/>
              <a:ea typeface="微软雅黑" panose="020B0503020204020204" charset="-122"/>
              <a:sym typeface="+mn-ea"/>
            </a:endParaRPr>
          </a:p>
          <a:p>
            <a:pPr marL="342900" indent="-342900">
              <a:lnSpc>
                <a:spcPct val="140000"/>
              </a:lnSpc>
            </a:pPr>
            <a:r>
              <a:rPr lang="zh-CN" altLang="en-US" sz="2000" b="1" dirty="0">
                <a:solidFill>
                  <a:schemeClr val="tx1"/>
                </a:solidFill>
                <a:latin typeface="微软雅黑" panose="020B0503020204020204" charset="-122"/>
                <a:ea typeface="微软雅黑" panose="020B0503020204020204" charset="-122"/>
                <a:sym typeface="+mn-ea"/>
              </a:rPr>
              <a:t>从外省市转入：</a:t>
            </a:r>
            <a:r>
              <a:rPr lang="zh-CN" altLang="en-US" sz="2000" dirty="0">
                <a:solidFill>
                  <a:schemeClr val="tx1"/>
                </a:solidFill>
                <a:latin typeface="微软雅黑" panose="020B0503020204020204" charset="-122"/>
                <a:ea typeface="微软雅黑" panose="020B0503020204020204" charset="-122"/>
                <a:sym typeface="+mn-ea"/>
              </a:rPr>
              <a:t>上传父或母有本市常住户籍一方户口本的户主页和父或母本人页、</a:t>
            </a:r>
            <a:r>
              <a:rPr lang="zh-CN" altLang="en-US" sz="2000" dirty="0">
                <a:latin typeface="微软雅黑" panose="020B0503020204020204" charset="-122"/>
                <a:ea typeface="微软雅黑" panose="020B0503020204020204" charset="-122"/>
                <a:sym typeface="+mn-ea"/>
              </a:rPr>
              <a:t>学生的出生证明</a:t>
            </a:r>
            <a:r>
              <a:rPr lang="zh-CN" altLang="en-US" sz="2000" dirty="0">
                <a:solidFill>
                  <a:schemeClr val="tx1"/>
                </a:solidFill>
                <a:latin typeface="微软雅黑" panose="020B0503020204020204" charset="-122"/>
                <a:ea typeface="微软雅黑" panose="020B0503020204020204" charset="-122"/>
                <a:sym typeface="+mn-ea"/>
              </a:rPr>
              <a:t>（</a:t>
            </a:r>
            <a:r>
              <a:rPr lang="zh-CN" altLang="en-US" sz="2000" dirty="0">
                <a:latin typeface="微软雅黑" panose="020B0503020204020204" charset="-122"/>
                <a:ea typeface="微软雅黑" panose="020B0503020204020204" charset="-122"/>
                <a:sym typeface="+mn-ea"/>
              </a:rPr>
              <a:t>、</a:t>
            </a:r>
            <a:r>
              <a:rPr lang="zh-CN" altLang="en-US" sz="2000" dirty="0">
                <a:solidFill>
                  <a:schemeClr val="tx1"/>
                </a:solidFill>
                <a:latin typeface="微软雅黑" panose="020B0503020204020204" charset="-122"/>
                <a:ea typeface="微软雅黑" panose="020B0503020204020204" charset="-122"/>
                <a:sym typeface="+mn-ea"/>
              </a:rPr>
              <a:t>结婚证）</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pPr>
            <a:r>
              <a:rPr lang="zh-CN" altLang="en-US" sz="2000" b="1" dirty="0">
                <a:solidFill>
                  <a:schemeClr val="tx1"/>
                </a:solidFill>
                <a:latin typeface="微软雅黑" panose="020B0503020204020204" charset="-122"/>
                <a:ea typeface="微软雅黑" panose="020B0503020204020204" charset="-122"/>
                <a:sym typeface="+mn-ea"/>
              </a:rPr>
              <a:t>从本市其他区或本区转入：</a:t>
            </a:r>
            <a:r>
              <a:rPr lang="zh-CN" altLang="en-US" sz="2000" dirty="0">
                <a:solidFill>
                  <a:schemeClr val="tx1"/>
                </a:solidFill>
                <a:latin typeface="微软雅黑" panose="020B0503020204020204" charset="-122"/>
                <a:ea typeface="微软雅黑" panose="020B0503020204020204" charset="-122"/>
                <a:sym typeface="+mn-ea"/>
              </a:rPr>
              <a:t>上传父或母有本市常住户籍一方户口本的户主页和父或母本人页、学生的出生证明（、结婚证）</a:t>
            </a:r>
            <a:r>
              <a:rPr lang="en-US" altLang="zh-CN" sz="2000" dirty="0">
                <a:solidFill>
                  <a:schemeClr val="tx1"/>
                </a:solidFill>
                <a:latin typeface="微软雅黑" panose="020B0503020204020204" charset="-122"/>
                <a:ea typeface="微软雅黑" panose="020B0503020204020204" charset="-122"/>
                <a:sym typeface="+mn-ea"/>
              </a:rPr>
              <a:t>+父母一方</a:t>
            </a:r>
            <a:r>
              <a:rPr lang="en-US" altLang="zh-CN" sz="2000" dirty="0">
                <a:solidFill>
                  <a:srgbClr val="FF0000"/>
                </a:solidFill>
                <a:latin typeface="微软雅黑" panose="020B0503020204020204" charset="-122"/>
                <a:ea typeface="微软雅黑" panose="020B0503020204020204" charset="-122"/>
                <a:sym typeface="+mn-ea"/>
              </a:rPr>
              <a:t>门头沟区</a:t>
            </a:r>
            <a:r>
              <a:rPr lang="en-US" altLang="zh-CN" sz="2000" dirty="0">
                <a:solidFill>
                  <a:schemeClr val="tx1"/>
                </a:solidFill>
                <a:latin typeface="微软雅黑" panose="020B0503020204020204" charset="-122"/>
                <a:ea typeface="微软雅黑" panose="020B0503020204020204" charset="-122"/>
                <a:sym typeface="+mn-ea"/>
              </a:rPr>
              <a:t>的房产证</a:t>
            </a:r>
            <a:r>
              <a:rPr lang="zh-CN" altLang="en-US" sz="2000" dirty="0">
                <a:solidFill>
                  <a:schemeClr val="tx1"/>
                </a:solidFill>
                <a:latin typeface="微软雅黑" panose="020B0503020204020204" charset="-122"/>
                <a:ea typeface="微软雅黑" panose="020B0503020204020204" charset="-122"/>
                <a:sym typeface="+mn-ea"/>
              </a:rPr>
              <a:t>（购房合同和购房发票）</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父母一方</a:t>
            </a:r>
            <a:r>
              <a:rPr lang="zh-CN" altLang="en-US" sz="2000" b="1" dirty="0">
                <a:solidFill>
                  <a:schemeClr val="tx1"/>
                </a:solidFill>
                <a:latin typeface="微软雅黑" panose="020B0503020204020204" charset="-122"/>
                <a:ea typeface="微软雅黑" panose="020B0503020204020204" charset="-122"/>
                <a:sym typeface="+mn-ea"/>
              </a:rPr>
              <a:t>持有《北京市工作居住证》</a:t>
            </a:r>
            <a:endParaRPr lang="zh-CN" altLang="en-US" sz="2000" b="1" dirty="0">
              <a:solidFill>
                <a:schemeClr val="tx1"/>
              </a:solidFill>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   1.</a:t>
            </a:r>
            <a:r>
              <a:rPr lang="zh-CN" altLang="en-US" sz="2000" dirty="0">
                <a:solidFill>
                  <a:schemeClr val="tx1"/>
                </a:solidFill>
                <a:latin typeface="微软雅黑" panose="020B0503020204020204" charset="-122"/>
                <a:ea typeface="微软雅黑" panose="020B0503020204020204" charset="-122"/>
                <a:sym typeface="+mn-ea"/>
              </a:rPr>
              <a:t>上传父母一方</a:t>
            </a:r>
            <a:r>
              <a:rPr lang="zh-CN" altLang="en-US" sz="2000" dirty="0">
                <a:solidFill>
                  <a:srgbClr val="FF0000"/>
                </a:solidFill>
                <a:latin typeface="微软雅黑" panose="020B0503020204020204" charset="-122"/>
                <a:ea typeface="微软雅黑" panose="020B0503020204020204" charset="-122"/>
                <a:sym typeface="+mn-ea"/>
              </a:rPr>
              <a:t>门头沟区</a:t>
            </a:r>
            <a:r>
              <a:rPr lang="zh-CN" altLang="en-US" sz="2000" dirty="0">
                <a:solidFill>
                  <a:schemeClr val="tx1"/>
                </a:solidFill>
                <a:latin typeface="微软雅黑" panose="020B0503020204020204" charset="-122"/>
                <a:ea typeface="微软雅黑" panose="020B0503020204020204" charset="-122"/>
                <a:sym typeface="+mn-ea"/>
              </a:rPr>
              <a:t>签发的《北京市工作居住证》、</a:t>
            </a:r>
            <a:r>
              <a:rPr lang="zh-CN" altLang="en-US" sz="2000" dirty="0">
                <a:solidFill>
                  <a:srgbClr val="FF0000"/>
                </a:solidFill>
                <a:latin typeface="微软雅黑" panose="020B0503020204020204" charset="-122"/>
                <a:ea typeface="微软雅黑" panose="020B0503020204020204" charset="-122"/>
                <a:sym typeface="+mn-ea"/>
              </a:rPr>
              <a:t>该工作居住证为有效的验证截图</a:t>
            </a:r>
            <a:r>
              <a:rPr lang="zh-CN" altLang="en-US" sz="2000" dirty="0">
                <a:solidFill>
                  <a:schemeClr val="tx1"/>
                </a:solidFill>
                <a:latin typeface="微软雅黑" panose="020B0503020204020204" charset="-122"/>
                <a:ea typeface="微软雅黑" panose="020B0503020204020204" charset="-122"/>
                <a:sym typeface="+mn-ea"/>
              </a:rPr>
              <a:t>、父母与学生的亲子关系证明材料。</a:t>
            </a:r>
            <a:endParaRPr lang="zh-CN" altLang="en-US" sz="2000" dirty="0">
              <a:solidFill>
                <a:schemeClr val="tx1"/>
              </a:solidFill>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   2.</a:t>
            </a:r>
            <a:r>
              <a:rPr lang="zh-CN" altLang="en-US" sz="2000" dirty="0">
                <a:solidFill>
                  <a:schemeClr val="tx1"/>
                </a:solidFill>
                <a:latin typeface="微软雅黑" panose="020B0503020204020204" charset="-122"/>
                <a:ea typeface="微软雅黑" panose="020B0503020204020204" charset="-122"/>
                <a:sym typeface="+mn-ea"/>
              </a:rPr>
              <a:t>上传父母一方</a:t>
            </a:r>
            <a:r>
              <a:rPr lang="zh-CN" altLang="en-US" sz="2000" dirty="0">
                <a:solidFill>
                  <a:srgbClr val="FF0000"/>
                </a:solidFill>
                <a:latin typeface="微软雅黑" panose="020B0503020204020204" charset="-122"/>
                <a:ea typeface="微软雅黑" panose="020B0503020204020204" charset="-122"/>
                <a:sym typeface="+mn-ea"/>
              </a:rPr>
              <a:t>北京市其他区</a:t>
            </a:r>
            <a:r>
              <a:rPr lang="zh-CN" altLang="en-US" sz="2000" dirty="0">
                <a:solidFill>
                  <a:schemeClr val="tx1"/>
                </a:solidFill>
                <a:latin typeface="微软雅黑" panose="020B0503020204020204" charset="-122"/>
                <a:ea typeface="微软雅黑" panose="020B0503020204020204" charset="-122"/>
                <a:sym typeface="+mn-ea"/>
              </a:rPr>
              <a:t>签发的《北京市工作居住证》、</a:t>
            </a:r>
            <a:r>
              <a:rPr lang="zh-CN" altLang="en-US" sz="2000" dirty="0">
                <a:solidFill>
                  <a:srgbClr val="FF0000"/>
                </a:solidFill>
                <a:latin typeface="微软雅黑" panose="020B0503020204020204" charset="-122"/>
                <a:ea typeface="微软雅黑" panose="020B0503020204020204" charset="-122"/>
                <a:sym typeface="+mn-ea"/>
              </a:rPr>
              <a:t>该工作居住证为有效的验证截图</a:t>
            </a:r>
            <a:r>
              <a:rPr lang="zh-CN" altLang="en-US" sz="2000" dirty="0">
                <a:solidFill>
                  <a:schemeClr val="tx1"/>
                </a:solidFill>
                <a:latin typeface="微软雅黑" panose="020B0503020204020204" charset="-122"/>
                <a:ea typeface="微软雅黑" panose="020B0503020204020204" charset="-122"/>
                <a:sym typeface="+mn-ea"/>
              </a:rPr>
              <a:t>、父母一方</a:t>
            </a:r>
            <a:r>
              <a:rPr lang="zh-CN" altLang="en-US" sz="2000" dirty="0">
                <a:solidFill>
                  <a:srgbClr val="FF0000"/>
                </a:solidFill>
                <a:latin typeface="微软雅黑" panose="020B0503020204020204" charset="-122"/>
                <a:ea typeface="微软雅黑" panose="020B0503020204020204" charset="-122"/>
                <a:sym typeface="+mn-ea"/>
              </a:rPr>
              <a:t>门头沟区</a:t>
            </a:r>
            <a:r>
              <a:rPr lang="zh-CN" altLang="en-US" sz="2000" dirty="0">
                <a:solidFill>
                  <a:schemeClr val="tx1"/>
                </a:solidFill>
                <a:latin typeface="微软雅黑" panose="020B0503020204020204" charset="-122"/>
                <a:ea typeface="微软雅黑" panose="020B0503020204020204" charset="-122"/>
                <a:sym typeface="+mn-ea"/>
              </a:rPr>
              <a:t>的房产证、父母与学生的亲子关系证明材料。</a:t>
            </a:r>
            <a:endParaRPr lang="zh-CN" altLang="en-US" sz="20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2915"/>
            <a:ext cx="8117840" cy="78486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5805170"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转学条件（义教阶段非本市户籍学生）</a:t>
            </a:r>
            <a:endParaRPr lang="zh-CN" altLang="en-US" sz="2400" dirty="0">
              <a:solidFill>
                <a:schemeClr val="bg1"/>
              </a:solidFill>
            </a:endParaRPr>
          </a:p>
        </p:txBody>
      </p:sp>
      <p:sp>
        <p:nvSpPr>
          <p:cNvPr id="8" name="文本框 7"/>
          <p:cNvSpPr txBox="true"/>
          <p:nvPr/>
        </p:nvSpPr>
        <p:spPr>
          <a:xfrm>
            <a:off x="219075" y="1993900"/>
            <a:ext cx="11753850" cy="3107690"/>
          </a:xfrm>
          <a:prstGeom prst="rect">
            <a:avLst/>
          </a:prstGeom>
          <a:noFill/>
        </p:spPr>
        <p:txBody>
          <a:bodyPr wrap="square" rtlCol="0">
            <a:spAutoFit/>
          </a:bodyPr>
          <a:lstStyle/>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rPr>
              <a:t>从</a:t>
            </a:r>
            <a:r>
              <a:rPr lang="zh-CN" altLang="en-US" sz="2000" b="1" dirty="0">
                <a:solidFill>
                  <a:schemeClr val="tx1"/>
                </a:solidFill>
                <a:latin typeface="微软雅黑" panose="020B0503020204020204" charset="-122"/>
                <a:ea typeface="微软雅黑" panose="020B0503020204020204" charset="-122"/>
              </a:rPr>
              <a:t>外省市</a:t>
            </a:r>
            <a:r>
              <a:rPr lang="zh-CN" altLang="en-US" sz="2000" dirty="0">
                <a:solidFill>
                  <a:schemeClr val="tx1"/>
                </a:solidFill>
                <a:latin typeface="微软雅黑" panose="020B0503020204020204" charset="-122"/>
                <a:ea typeface="微软雅黑" panose="020B0503020204020204" charset="-122"/>
              </a:rPr>
              <a:t>转入</a:t>
            </a:r>
            <a:endParaRPr lang="zh-CN" altLang="en-US" sz="2000" dirty="0">
              <a:solidFill>
                <a:schemeClr val="tx1"/>
              </a:solidFill>
              <a:latin typeface="微软雅黑" panose="020B0503020204020204" charset="-122"/>
              <a:ea typeface="微软雅黑" panose="020B0503020204020204" charset="-122"/>
            </a:endParaRPr>
          </a:p>
          <a:p>
            <a:pPr marL="342900" indent="-342900">
              <a:lnSpc>
                <a:spcPct val="140000"/>
              </a:lnSpc>
            </a:pPr>
            <a:r>
              <a:rPr lang="en-US" altLang="zh-CN" sz="2000" dirty="0">
                <a:solidFill>
                  <a:schemeClr val="tx1"/>
                </a:solidFill>
                <a:latin typeface="微软雅黑" panose="020B0503020204020204" charset="-122"/>
                <a:ea typeface="微软雅黑" panose="020B0503020204020204" charset="-122"/>
              </a:rPr>
              <a:t>   1.</a:t>
            </a:r>
            <a:r>
              <a:rPr lang="zh-CN" altLang="en-US" sz="2000" dirty="0">
                <a:solidFill>
                  <a:schemeClr val="tx1"/>
                </a:solidFill>
                <a:latin typeface="微软雅黑" panose="020B0503020204020204" charset="-122"/>
                <a:ea typeface="微软雅黑" panose="020B0503020204020204" charset="-122"/>
              </a:rPr>
              <a:t>父母</a:t>
            </a:r>
            <a:r>
              <a:rPr lang="zh-CN" altLang="en-US" sz="2000" dirty="0">
                <a:solidFill>
                  <a:srgbClr val="FF0000"/>
                </a:solidFill>
                <a:latin typeface="微软雅黑" panose="020B0503020204020204" charset="-122"/>
                <a:ea typeface="微软雅黑" panose="020B0503020204020204" charset="-122"/>
              </a:rPr>
              <a:t>一方</a:t>
            </a:r>
            <a:r>
              <a:rPr lang="zh-CN" altLang="en-US" sz="2000" dirty="0">
                <a:solidFill>
                  <a:schemeClr val="tx1"/>
                </a:solidFill>
                <a:latin typeface="微软雅黑" panose="020B0503020204020204" charset="-122"/>
                <a:ea typeface="微软雅黑" panose="020B0503020204020204" charset="-122"/>
              </a:rPr>
              <a:t>社保在门头沟区连续</a:t>
            </a:r>
            <a:r>
              <a:rPr lang="en-US" altLang="zh-CN" sz="2000" dirty="0">
                <a:solidFill>
                  <a:schemeClr val="tx1"/>
                </a:solidFill>
                <a:latin typeface="微软雅黑" panose="020B0503020204020204" charset="-122"/>
                <a:ea typeface="微软雅黑" panose="020B0503020204020204" charset="-122"/>
              </a:rPr>
              <a:t>6</a:t>
            </a:r>
            <a:r>
              <a:rPr lang="zh-CN" altLang="en-US" sz="2000" dirty="0">
                <a:solidFill>
                  <a:schemeClr val="tx1"/>
                </a:solidFill>
                <a:latin typeface="微软雅黑" panose="020B0503020204020204" charset="-122"/>
                <a:ea typeface="微软雅黑" panose="020B0503020204020204" charset="-122"/>
              </a:rPr>
              <a:t>个月以上</a:t>
            </a:r>
            <a:r>
              <a:rPr lang="en-US" altLang="zh-CN" sz="2000" dirty="0">
                <a:solidFill>
                  <a:schemeClr val="tx1"/>
                </a:solidFill>
                <a:latin typeface="微软雅黑" panose="020B0503020204020204" charset="-122"/>
                <a:ea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rPr>
              <a:t>父母</a:t>
            </a:r>
            <a:r>
              <a:rPr lang="zh-CN" altLang="en-US" sz="2000" dirty="0">
                <a:solidFill>
                  <a:srgbClr val="FF0000"/>
                </a:solidFill>
                <a:latin typeface="微软雅黑" panose="020B0503020204020204" charset="-122"/>
                <a:ea typeface="微软雅黑" panose="020B0503020204020204" charset="-122"/>
              </a:rPr>
              <a:t>一方</a:t>
            </a:r>
            <a:r>
              <a:rPr lang="zh-CN" altLang="en-US" sz="2000" dirty="0">
                <a:solidFill>
                  <a:schemeClr val="tx1"/>
                </a:solidFill>
                <a:latin typeface="微软雅黑" panose="020B0503020204020204" charset="-122"/>
                <a:ea typeface="微软雅黑" panose="020B0503020204020204" charset="-122"/>
              </a:rPr>
              <a:t>是门头沟区签发营业执照的法人、合伙人或股东</a:t>
            </a:r>
            <a:endParaRPr lang="zh-CN" altLang="en-US"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dirty="0">
                <a:solidFill>
                  <a:schemeClr val="tx1"/>
                </a:solidFill>
                <a:latin typeface="微软雅黑" panose="020B0503020204020204" charset="-122"/>
                <a:ea typeface="微软雅黑" panose="020B0503020204020204" charset="-122"/>
              </a:rPr>
              <a:t>   2.</a:t>
            </a:r>
            <a:r>
              <a:rPr lang="zh-CN" altLang="en-US" sz="2000" dirty="0">
                <a:solidFill>
                  <a:schemeClr val="tx1"/>
                </a:solidFill>
                <a:latin typeface="微软雅黑" panose="020B0503020204020204" charset="-122"/>
                <a:ea typeface="微软雅黑" panose="020B0503020204020204" charset="-122"/>
              </a:rPr>
              <a:t>房产证、购房合同和购房发票</a:t>
            </a:r>
            <a:r>
              <a:rPr lang="en-US" altLang="zh-CN" sz="2000" dirty="0">
                <a:solidFill>
                  <a:schemeClr val="tx1"/>
                </a:solidFill>
                <a:latin typeface="微软雅黑" panose="020B0503020204020204" charset="-122"/>
                <a:ea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rPr>
              <a:t>租房合同和完税发票</a:t>
            </a:r>
            <a:endParaRPr lang="zh-CN" altLang="en-US"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dirty="0">
                <a:solidFill>
                  <a:schemeClr val="tx1"/>
                </a:solidFill>
                <a:latin typeface="微软雅黑" panose="020B0503020204020204" charset="-122"/>
                <a:ea typeface="微软雅黑" panose="020B0503020204020204" charset="-122"/>
              </a:rPr>
              <a:t>   3.</a:t>
            </a:r>
            <a:r>
              <a:rPr lang="zh-CN" altLang="en-US" sz="2000" dirty="0">
                <a:solidFill>
                  <a:schemeClr val="tx1"/>
                </a:solidFill>
                <a:latin typeface="微软雅黑" panose="020B0503020204020204" charset="-122"/>
                <a:ea typeface="微软雅黑" panose="020B0503020204020204" charset="-122"/>
              </a:rPr>
              <a:t>父母</a:t>
            </a:r>
            <a:r>
              <a:rPr lang="zh-CN" altLang="en-US" sz="2000" dirty="0">
                <a:solidFill>
                  <a:srgbClr val="FF0000"/>
                </a:solidFill>
                <a:latin typeface="微软雅黑" panose="020B0503020204020204" charset="-122"/>
                <a:ea typeface="微软雅黑" panose="020B0503020204020204" charset="-122"/>
              </a:rPr>
              <a:t>双方</a:t>
            </a:r>
            <a:r>
              <a:rPr lang="zh-CN" altLang="en-US" sz="2000" dirty="0">
                <a:latin typeface="微软雅黑" panose="020B0503020204020204" charset="-122"/>
                <a:ea typeface="微软雅黑" panose="020B0503020204020204" charset="-122"/>
                <a:sym typeface="+mn-ea"/>
              </a:rPr>
              <a:t>在门头沟区</a:t>
            </a:r>
            <a:r>
              <a:rPr lang="zh-CN" altLang="en-US" sz="2000" dirty="0">
                <a:solidFill>
                  <a:schemeClr val="tx1"/>
                </a:solidFill>
                <a:latin typeface="微软雅黑" panose="020B0503020204020204" charset="-122"/>
                <a:ea typeface="微软雅黑" panose="020B0503020204020204" charset="-122"/>
              </a:rPr>
              <a:t>的居住证</a:t>
            </a:r>
            <a:r>
              <a:rPr lang="en-US" altLang="zh-CN" sz="2000" dirty="0">
                <a:solidFill>
                  <a:schemeClr val="tx1"/>
                </a:solidFill>
                <a:latin typeface="微软雅黑" panose="020B0503020204020204" charset="-122"/>
                <a:ea typeface="微软雅黑" panose="020B0503020204020204" charset="-122"/>
              </a:rPr>
              <a:t>   </a:t>
            </a:r>
            <a:endParaRPr lang="en-US" altLang="zh-CN"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dirty="0">
                <a:solidFill>
                  <a:schemeClr val="tx1"/>
                </a:solidFill>
                <a:latin typeface="微软雅黑" panose="020B0503020204020204" charset="-122"/>
                <a:ea typeface="微软雅黑" panose="020B0503020204020204" charset="-122"/>
              </a:rPr>
              <a:t>   4.</a:t>
            </a:r>
            <a:r>
              <a:rPr lang="zh-CN" altLang="en-US" sz="2000" dirty="0">
                <a:solidFill>
                  <a:schemeClr val="tx1"/>
                </a:solidFill>
                <a:latin typeface="微软雅黑" panose="020B0503020204020204" charset="-122"/>
                <a:ea typeface="微软雅黑" panose="020B0503020204020204" charset="-122"/>
              </a:rPr>
              <a:t>全家户口本（若不在一个户口本上，还需提供结婚证和出生证明</a:t>
            </a:r>
            <a:r>
              <a:rPr lang="en-US" altLang="zh-CN" sz="2000" dirty="0">
                <a:solidFill>
                  <a:schemeClr val="tx1"/>
                </a:solidFill>
                <a:latin typeface="微软雅黑" panose="020B0503020204020204" charset="-122"/>
                <a:ea typeface="微软雅黑" panose="020B0503020204020204" charset="-122"/>
              </a:rPr>
              <a:t>/</a:t>
            </a:r>
            <a:r>
              <a:rPr lang="zh-CN" altLang="en-US" sz="2000" dirty="0">
                <a:solidFill>
                  <a:schemeClr val="tx1"/>
                </a:solidFill>
                <a:latin typeface="微软雅黑" panose="020B0503020204020204" charset="-122"/>
                <a:ea typeface="微软雅黑" panose="020B0503020204020204" charset="-122"/>
              </a:rPr>
              <a:t>若父母离异，还需提供离婚协议）</a:t>
            </a:r>
            <a:endParaRPr lang="zh-CN" altLang="en-US" sz="2000" dirty="0">
              <a:solidFill>
                <a:schemeClr val="tx1"/>
              </a:solidFill>
              <a:latin typeface="微软雅黑" panose="020B0503020204020204" charset="-122"/>
              <a:ea typeface="微软雅黑" panose="020B0503020204020204" charset="-122"/>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rPr>
              <a:t>从</a:t>
            </a:r>
            <a:r>
              <a:rPr lang="zh-CN" altLang="en-US" sz="2000" b="1" dirty="0">
                <a:solidFill>
                  <a:schemeClr val="tx1"/>
                </a:solidFill>
                <a:latin typeface="微软雅黑" panose="020B0503020204020204" charset="-122"/>
                <a:ea typeface="微软雅黑" panose="020B0503020204020204" charset="-122"/>
              </a:rPr>
              <a:t>本市其他区或本区</a:t>
            </a:r>
            <a:r>
              <a:rPr lang="zh-CN" altLang="en-US" sz="2000" dirty="0">
                <a:solidFill>
                  <a:schemeClr val="tx1"/>
                </a:solidFill>
                <a:latin typeface="微软雅黑" panose="020B0503020204020204" charset="-122"/>
                <a:ea typeface="微软雅黑" panose="020B0503020204020204" charset="-122"/>
              </a:rPr>
              <a:t>转入</a:t>
            </a:r>
            <a:endParaRPr lang="zh-CN" altLang="en-US" sz="2000" dirty="0">
              <a:solidFill>
                <a:schemeClr val="tx1"/>
              </a:solidFill>
              <a:latin typeface="微软雅黑" panose="020B0503020204020204" charset="-122"/>
              <a:ea typeface="微软雅黑" panose="020B0503020204020204" charset="-122"/>
            </a:endParaRPr>
          </a:p>
          <a:p>
            <a:pPr marL="342900" indent="-342900">
              <a:lnSpc>
                <a:spcPct val="140000"/>
              </a:lnSpc>
            </a:pPr>
            <a:r>
              <a:rPr lang="en-US" altLang="zh-CN" sz="2000" dirty="0">
                <a:solidFill>
                  <a:schemeClr val="tx1"/>
                </a:solidFill>
                <a:latin typeface="微软雅黑" panose="020B0503020204020204" charset="-122"/>
                <a:ea typeface="微软雅黑" panose="020B0503020204020204" charset="-122"/>
                <a:sym typeface="+mn-ea"/>
              </a:rPr>
              <a:t>   </a:t>
            </a:r>
            <a:r>
              <a:rPr lang="zh-CN" altLang="en-US" sz="2000" dirty="0">
                <a:solidFill>
                  <a:schemeClr val="tx1"/>
                </a:solidFill>
                <a:latin typeface="微软雅黑" panose="020B0503020204020204" charset="-122"/>
                <a:ea typeface="微软雅黑" panose="020B0503020204020204" charset="-122"/>
                <a:sym typeface="+mn-ea"/>
              </a:rPr>
              <a:t>除满足非京籍入学时的条件外，法定监护人还需在门头沟区</a:t>
            </a:r>
            <a:r>
              <a:rPr lang="zh-CN" altLang="en-US" sz="2000" dirty="0">
                <a:solidFill>
                  <a:srgbClr val="FF0000"/>
                </a:solidFill>
                <a:latin typeface="微软雅黑" panose="020B0503020204020204" charset="-122"/>
                <a:ea typeface="微软雅黑" panose="020B0503020204020204" charset="-122"/>
                <a:sym typeface="+mn-ea"/>
              </a:rPr>
              <a:t>自有房产。</a:t>
            </a:r>
            <a:endParaRPr lang="zh-CN" altLang="en-US" sz="2000" dirty="0">
              <a:solidFill>
                <a:srgbClr val="FF0000"/>
              </a:solidFill>
              <a:latin typeface="微软雅黑" panose="020B0503020204020204" charset="-122"/>
              <a:ea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截图_选择区域_20221208154112"/>
          <p:cNvPicPr>
            <a:picLocks noChangeAspect="true"/>
          </p:cNvPicPr>
          <p:nvPr/>
        </p:nvPicPr>
        <p:blipFill>
          <a:blip r:embed="rId1"/>
          <a:stretch>
            <a:fillRect/>
          </a:stretch>
        </p:blipFill>
        <p:spPr>
          <a:xfrm>
            <a:off x="7649210" y="764540"/>
            <a:ext cx="3830955" cy="5378450"/>
          </a:xfrm>
          <a:prstGeom prst="rect">
            <a:avLst/>
          </a:prstGeom>
          <a:ln>
            <a:solidFill>
              <a:schemeClr val="tx1"/>
            </a:solidFill>
          </a:ln>
        </p:spPr>
      </p:pic>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7" name="文本框 6"/>
          <p:cNvSpPr txBox="true"/>
          <p:nvPr/>
        </p:nvSpPr>
        <p:spPr>
          <a:xfrm>
            <a:off x="422275" y="1384300"/>
            <a:ext cx="6783070" cy="5262245"/>
          </a:xfrm>
          <a:prstGeom prst="rect">
            <a:avLst/>
          </a:prstGeom>
          <a:noFill/>
        </p:spPr>
        <p:txBody>
          <a:bodyPr wrap="square" rtlCol="0">
            <a:spAutoFit/>
          </a:bodyPr>
          <a:lstStyle/>
          <a:p>
            <a:pPr marL="342900" indent="-342900">
              <a:lnSpc>
                <a:spcPct val="140000"/>
              </a:lnSpc>
              <a:buFont typeface="Wingdings" panose="05000000000000000000" charset="0"/>
              <a:buChar char=""/>
            </a:pPr>
            <a:r>
              <a:rPr lang="zh-CN" altLang="en-US" sz="2000" b="1">
                <a:solidFill>
                  <a:schemeClr val="tx1"/>
                </a:solidFill>
                <a:latin typeface="微软雅黑" panose="020B0503020204020204" charset="-122"/>
                <a:ea typeface="微软雅黑" panose="020B0503020204020204" charset="-122"/>
              </a:rPr>
              <a:t>非京籍转学材料</a:t>
            </a:r>
            <a:r>
              <a:rPr lang="zh-CN" altLang="en-US" sz="2000">
                <a:solidFill>
                  <a:schemeClr val="tx1"/>
                </a:solidFill>
                <a:latin typeface="微软雅黑" panose="020B0503020204020204" charset="-122"/>
                <a:ea typeface="微软雅黑" panose="020B0503020204020204" charset="-122"/>
              </a:rPr>
              <a:t>的原件由学校进行初审，审核无误后由家长填写</a:t>
            </a:r>
            <a:r>
              <a:rPr lang="en-US" altLang="zh-CN" sz="2000">
                <a:solidFill>
                  <a:schemeClr val="tx1"/>
                </a:solidFill>
                <a:latin typeface="微软雅黑" panose="020B0503020204020204" charset="-122"/>
                <a:ea typeface="微软雅黑" panose="020B0503020204020204" charset="-122"/>
              </a:rPr>
              <a:t>“</a:t>
            </a:r>
            <a:r>
              <a:rPr lang="zh-CN" altLang="en-US" sz="2000">
                <a:solidFill>
                  <a:schemeClr val="tx1"/>
                </a:solidFill>
                <a:latin typeface="微软雅黑" panose="020B0503020204020204" charset="-122"/>
                <a:ea typeface="微软雅黑" panose="020B0503020204020204" charset="-122"/>
              </a:rPr>
              <a:t>外省市学生来京就读确认书</a:t>
            </a:r>
            <a:r>
              <a:rPr lang="en-US" altLang="zh-CN" sz="2000">
                <a:solidFill>
                  <a:schemeClr val="tx1"/>
                </a:solidFill>
                <a:latin typeface="微软雅黑" panose="020B0503020204020204" charset="-122"/>
                <a:ea typeface="微软雅黑" panose="020B0503020204020204" charset="-122"/>
              </a:rPr>
              <a:t>”</a:t>
            </a:r>
            <a:r>
              <a:rPr lang="zh-CN" altLang="en-US" sz="2000">
                <a:solidFill>
                  <a:schemeClr val="tx1"/>
                </a:solidFill>
                <a:latin typeface="微软雅黑" panose="020B0503020204020204" charset="-122"/>
                <a:ea typeface="微软雅黑" panose="020B0503020204020204" charset="-122"/>
              </a:rPr>
              <a:t>（一式三份），加盖学校公章；</a:t>
            </a:r>
            <a:endParaRPr lang="zh-CN" altLang="en-US" sz="2000">
              <a:solidFill>
                <a:schemeClr val="tx1"/>
              </a:solidFill>
              <a:latin typeface="微软雅黑" panose="020B0503020204020204" charset="-122"/>
              <a:ea typeface="微软雅黑" panose="020B0503020204020204" charset="-122"/>
            </a:endParaRPr>
          </a:p>
          <a:p>
            <a:pPr marL="342900" indent="-342900">
              <a:lnSpc>
                <a:spcPct val="140000"/>
              </a:lnSpc>
              <a:buFont typeface="Wingdings" panose="05000000000000000000" charset="0"/>
              <a:buChar char=""/>
            </a:pPr>
            <a:r>
              <a:rPr lang="zh-CN" altLang="en-US" sz="2000">
                <a:solidFill>
                  <a:schemeClr val="tx1"/>
                </a:solidFill>
                <a:latin typeface="微软雅黑" panose="020B0503020204020204" charset="-122"/>
                <a:ea typeface="微软雅黑" panose="020B0503020204020204" charset="-122"/>
              </a:rPr>
              <a:t>非京籍转学材料的复印件（一式两份）由学校学籍老师交至教委基教二科，与居住地镇街共同进行复审，审核无误后，教委基教二科和镇街在</a:t>
            </a:r>
            <a:r>
              <a:rPr lang="en-US" altLang="zh-CN" sz="2000">
                <a:latin typeface="微软雅黑" panose="020B0503020204020204" charset="-122"/>
                <a:ea typeface="微软雅黑" panose="020B0503020204020204" charset="-122"/>
                <a:sym typeface="+mn-ea"/>
              </a:rPr>
              <a:t>“</a:t>
            </a:r>
            <a:r>
              <a:rPr lang="zh-CN" altLang="en-US" sz="2000">
                <a:latin typeface="微软雅黑" panose="020B0503020204020204" charset="-122"/>
                <a:ea typeface="微软雅黑" panose="020B0503020204020204" charset="-122"/>
                <a:sym typeface="+mn-ea"/>
              </a:rPr>
              <a:t>外省市学生来京就读确认书</a:t>
            </a:r>
            <a:r>
              <a:rPr lang="en-US" altLang="zh-CN" sz="2000">
                <a:latin typeface="微软雅黑" panose="020B0503020204020204" charset="-122"/>
                <a:ea typeface="微软雅黑" panose="020B0503020204020204" charset="-122"/>
                <a:sym typeface="+mn-ea"/>
              </a:rPr>
              <a:t>”</a:t>
            </a:r>
            <a:r>
              <a:rPr lang="zh-CN" altLang="en-US" sz="2000">
                <a:solidFill>
                  <a:schemeClr val="tx1"/>
                </a:solidFill>
                <a:latin typeface="微软雅黑" panose="020B0503020204020204" charset="-122"/>
                <a:ea typeface="微软雅黑" panose="020B0503020204020204" charset="-122"/>
              </a:rPr>
              <a:t>加盖公章，由学校学籍老师带回上传云平台。</a:t>
            </a:r>
            <a:endParaRPr lang="zh-CN" altLang="en-US" sz="2000">
              <a:solidFill>
                <a:schemeClr val="tx1"/>
              </a:solidFill>
              <a:latin typeface="微软雅黑" panose="020B0503020204020204" charset="-122"/>
              <a:ea typeface="微软雅黑" panose="020B0503020204020204" charset="-122"/>
            </a:endParaRPr>
          </a:p>
          <a:p>
            <a:pPr marL="342900" indent="-342900">
              <a:lnSpc>
                <a:spcPct val="140000"/>
              </a:lnSpc>
            </a:pPr>
            <a:endParaRPr lang="zh-CN" altLang="en-US" sz="200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a:latin typeface="微软雅黑" panose="020B0503020204020204" charset="-122"/>
                <a:ea typeface="微软雅黑" panose="020B0503020204020204" charset="-122"/>
                <a:sym typeface="+mn-ea"/>
              </a:rPr>
              <a:t>从</a:t>
            </a:r>
            <a:r>
              <a:rPr lang="zh-CN" altLang="en-US" sz="2000" b="1">
                <a:latin typeface="微软雅黑" panose="020B0503020204020204" charset="-122"/>
                <a:ea typeface="微软雅黑" panose="020B0503020204020204" charset="-122"/>
                <a:sym typeface="+mn-ea"/>
              </a:rPr>
              <a:t>外省市</a:t>
            </a:r>
            <a:r>
              <a:rPr lang="zh-CN" altLang="en-US" sz="2000">
                <a:latin typeface="微软雅黑" panose="020B0503020204020204" charset="-122"/>
                <a:ea typeface="微软雅黑" panose="020B0503020204020204" charset="-122"/>
                <a:sym typeface="+mn-ea"/>
              </a:rPr>
              <a:t>转入：上传</a:t>
            </a:r>
            <a:r>
              <a:rPr lang="zh-CN" altLang="en-US" sz="2000">
                <a:solidFill>
                  <a:srgbClr val="FF0000"/>
                </a:solidFill>
                <a:latin typeface="微软雅黑" panose="020B0503020204020204" charset="-122"/>
                <a:ea typeface="微软雅黑" panose="020B0503020204020204" charset="-122"/>
                <a:sym typeface="+mn-ea"/>
              </a:rPr>
              <a:t>“外省市学生来京就读确认书”</a:t>
            </a:r>
            <a:r>
              <a:rPr lang="zh-CN" altLang="en-US" sz="2000">
                <a:latin typeface="微软雅黑" panose="020B0503020204020204" charset="-122"/>
                <a:ea typeface="微软雅黑" panose="020B0503020204020204" charset="-122"/>
                <a:sym typeface="+mn-ea"/>
              </a:rPr>
              <a:t>。</a:t>
            </a:r>
            <a:endParaRPr lang="zh-CN" altLang="en-US" sz="200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a:latin typeface="微软雅黑" panose="020B0503020204020204" charset="-122"/>
                <a:ea typeface="微软雅黑" panose="020B0503020204020204" charset="-122"/>
                <a:sym typeface="+mn-ea"/>
              </a:rPr>
              <a:t>从</a:t>
            </a:r>
            <a:r>
              <a:rPr lang="zh-CN" altLang="en-US" sz="2000" b="1">
                <a:latin typeface="微软雅黑" panose="020B0503020204020204" charset="-122"/>
                <a:ea typeface="微软雅黑" panose="020B0503020204020204" charset="-122"/>
                <a:sym typeface="+mn-ea"/>
              </a:rPr>
              <a:t>本市其他区或本区</a:t>
            </a:r>
            <a:r>
              <a:rPr lang="zh-CN" altLang="en-US" sz="2000">
                <a:latin typeface="微软雅黑" panose="020B0503020204020204" charset="-122"/>
                <a:ea typeface="微软雅黑" panose="020B0503020204020204" charset="-122"/>
                <a:sym typeface="+mn-ea"/>
              </a:rPr>
              <a:t>转入：上传“外省市学生来京就读确认书”、法定监护人的房产证、法定监护人与学生的亲子关系证明材料。</a:t>
            </a:r>
            <a:endParaRPr lang="zh-CN" altLang="en-US" sz="2000">
              <a:solidFill>
                <a:schemeClr val="tx1"/>
              </a:solidFill>
              <a:latin typeface="微软雅黑" panose="020B0503020204020204" charset="-122"/>
              <a:ea typeface="微软雅黑" panose="020B0503020204020204" charset="-122"/>
              <a:sym typeface="+mn-ea"/>
            </a:endParaRPr>
          </a:p>
        </p:txBody>
      </p:sp>
      <p:sp>
        <p:nvSpPr>
          <p:cNvPr id="10" name="椭圆 9"/>
          <p:cNvSpPr/>
          <p:nvPr/>
        </p:nvSpPr>
        <p:spPr>
          <a:xfrm>
            <a:off x="9554845" y="4451350"/>
            <a:ext cx="1191895" cy="499745"/>
          </a:xfrm>
          <a:prstGeom prst="ellipse">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椭圆 8"/>
          <p:cNvSpPr/>
          <p:nvPr/>
        </p:nvSpPr>
        <p:spPr>
          <a:xfrm>
            <a:off x="9554845" y="3892550"/>
            <a:ext cx="862965" cy="412750"/>
          </a:xfrm>
          <a:prstGeom prst="ellipse">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2" name="椭圆 11"/>
          <p:cNvSpPr/>
          <p:nvPr/>
        </p:nvSpPr>
        <p:spPr>
          <a:xfrm>
            <a:off x="8300085" y="4451350"/>
            <a:ext cx="862330" cy="500380"/>
          </a:xfrm>
          <a:prstGeom prst="ellipse">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8" name="文本框 7"/>
          <p:cNvSpPr txBox="true"/>
          <p:nvPr/>
        </p:nvSpPr>
        <p:spPr>
          <a:xfrm>
            <a:off x="1631950" y="1247775"/>
            <a:ext cx="8928735" cy="5262245"/>
          </a:xfrm>
          <a:prstGeom prst="rect">
            <a:avLst/>
          </a:prstGeom>
          <a:noFill/>
        </p:spPr>
        <p:txBody>
          <a:bodyPr wrap="square" rtlCol="0">
            <a:spAutoFit/>
          </a:bodyPr>
          <a:lstStyle/>
          <a:p>
            <a:pPr>
              <a:lnSpc>
                <a:spcPct val="140000"/>
              </a:lnSpc>
            </a:pPr>
            <a:r>
              <a:rPr lang="zh-CN" altLang="en-US" sz="2000" dirty="0">
                <a:solidFill>
                  <a:schemeClr val="tx1"/>
                </a:solidFill>
                <a:latin typeface="微软雅黑" panose="020B0503020204020204" charset="-122"/>
                <a:ea typeface="微软雅黑" panose="020B0503020204020204" charset="-122"/>
                <a:sym typeface="+mn-ea"/>
              </a:rPr>
              <a:t>非京籍转学材料：</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务工就业材料（满足其中一项）：</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pPr>
            <a:r>
              <a:rPr lang="en-US" altLang="zh-CN" sz="2000" dirty="0">
                <a:solidFill>
                  <a:schemeClr val="tx1"/>
                </a:solidFill>
                <a:latin typeface="微软雅黑" panose="020B0503020204020204" charset="-122"/>
                <a:ea typeface="微软雅黑" panose="020B0503020204020204" charset="-122"/>
                <a:sym typeface="+mn-ea"/>
              </a:rPr>
              <a:t>1.</a:t>
            </a:r>
            <a:r>
              <a:rPr lang="zh-CN" altLang="en-US" sz="2000" dirty="0">
                <a:solidFill>
                  <a:schemeClr val="tx1"/>
                </a:solidFill>
                <a:latin typeface="微软雅黑" panose="020B0503020204020204" charset="-122"/>
                <a:ea typeface="微软雅黑" panose="020B0503020204020204" charset="-122"/>
                <a:sym typeface="+mn-ea"/>
              </a:rPr>
              <a:t>父母一方在门头沟区的社保缴费单、劳动合同</a:t>
            </a:r>
            <a:endParaRPr lang="en-US" altLang="zh-CN" sz="2000" dirty="0">
              <a:solidFill>
                <a:schemeClr val="tx1"/>
              </a:solidFill>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父母一方门头沟区营业执照的副本</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实际居住地材料</a:t>
            </a:r>
            <a:r>
              <a:rPr lang="zh-CN" altLang="en-US" sz="2000" dirty="0">
                <a:latin typeface="微软雅黑" panose="020B0503020204020204" charset="-122"/>
                <a:ea typeface="微软雅黑" panose="020B0503020204020204" charset="-122"/>
                <a:sym typeface="+mn-ea"/>
              </a:rPr>
              <a:t>（满足其中一项）</a:t>
            </a:r>
            <a:r>
              <a:rPr lang="zh-CN" altLang="en-US" sz="2000" dirty="0">
                <a:solidFill>
                  <a:schemeClr val="tx1"/>
                </a:solidFill>
                <a:latin typeface="微软雅黑" panose="020B0503020204020204" charset="-122"/>
                <a:ea typeface="微软雅黑" panose="020B0503020204020204" charset="-122"/>
                <a:sym typeface="+mn-ea"/>
              </a:rPr>
              <a:t>：</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pPr>
            <a:r>
              <a:rPr lang="en-US" altLang="zh-CN" sz="2000" dirty="0">
                <a:solidFill>
                  <a:schemeClr val="tx1"/>
                </a:solidFill>
                <a:latin typeface="微软雅黑" panose="020B0503020204020204" charset="-122"/>
                <a:ea typeface="微软雅黑" panose="020B0503020204020204" charset="-122"/>
                <a:sym typeface="+mn-ea"/>
              </a:rPr>
              <a:t>1.</a:t>
            </a:r>
            <a:r>
              <a:rPr lang="zh-CN" altLang="en-US" sz="2000" dirty="0">
                <a:solidFill>
                  <a:schemeClr val="tx1"/>
                </a:solidFill>
                <a:latin typeface="微软雅黑" panose="020B0503020204020204" charset="-122"/>
                <a:ea typeface="微软雅黑" panose="020B0503020204020204" charset="-122"/>
                <a:sym typeface="+mn-ea"/>
              </a:rPr>
              <a:t>父母在门头沟区的房产证（购房合同和购房发票）</a:t>
            </a:r>
            <a:endParaRPr lang="zh-CN" altLang="en-US" sz="2000" dirty="0">
              <a:solidFill>
                <a:schemeClr val="tx1"/>
              </a:solidFill>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2.</a:t>
            </a:r>
            <a:r>
              <a:rPr lang="zh-CN" altLang="en-US" sz="2000" dirty="0">
                <a:solidFill>
                  <a:schemeClr val="tx1"/>
                </a:solidFill>
                <a:latin typeface="微软雅黑" panose="020B0503020204020204" charset="-122"/>
                <a:ea typeface="微软雅黑" panose="020B0503020204020204" charset="-122"/>
                <a:sym typeface="+mn-ea"/>
              </a:rPr>
              <a:t>父母在门头沟区的租房合同和完税证明</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北京市居住证：</a:t>
            </a:r>
            <a:endParaRPr lang="zh-CN" altLang="en-US" sz="2000" dirty="0">
              <a:solidFill>
                <a:schemeClr val="tx1"/>
              </a:solidFill>
              <a:latin typeface="微软雅黑" panose="020B0503020204020204" charset="-122"/>
              <a:ea typeface="微软雅黑" panose="020B0503020204020204" charset="-122"/>
              <a:sym typeface="+mn-ea"/>
            </a:endParaRPr>
          </a:p>
          <a:p>
            <a:pPr>
              <a:lnSpc>
                <a:spcPct val="140000"/>
              </a:lnSpc>
            </a:pPr>
            <a:r>
              <a:rPr lang="zh-CN" altLang="en-US" sz="2000" dirty="0">
                <a:solidFill>
                  <a:schemeClr val="tx1"/>
                </a:solidFill>
                <a:latin typeface="微软雅黑" panose="020B0503020204020204" charset="-122"/>
                <a:ea typeface="微软雅黑" panose="020B0503020204020204" charset="-122"/>
                <a:sym typeface="+mn-ea"/>
              </a:rPr>
              <a:t>父母双方在门头沟区的居住证</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sym typeface="+mn-ea"/>
              </a:rPr>
              <a:t>全家户口簿：</a:t>
            </a:r>
            <a:endParaRPr lang="zh-CN" altLang="en-US" sz="2000" dirty="0">
              <a:solidFill>
                <a:schemeClr val="tx1"/>
              </a:solidFill>
              <a:latin typeface="微软雅黑" panose="020B0503020204020204" charset="-122"/>
              <a:ea typeface="微软雅黑" panose="020B0503020204020204" charset="-122"/>
              <a:sym typeface="+mn-ea"/>
            </a:endParaRPr>
          </a:p>
          <a:p>
            <a:pPr marL="342900" indent="-342900">
              <a:lnSpc>
                <a:spcPct val="140000"/>
              </a:lnSpc>
            </a:pPr>
            <a:r>
              <a:rPr lang="zh-CN" altLang="en-US" sz="2000" dirty="0">
                <a:solidFill>
                  <a:schemeClr val="tx1"/>
                </a:solidFill>
                <a:latin typeface="微软雅黑" panose="020B0503020204020204" charset="-122"/>
                <a:ea typeface="微软雅黑" panose="020B0503020204020204" charset="-122"/>
                <a:sym typeface="+mn-ea"/>
              </a:rPr>
              <a:t>全家户口本（不在同一户口本的需提供一家三口的户口页、结婚证、出生证明）</a:t>
            </a:r>
            <a:endParaRPr lang="en-US" altLang="zh-CN" sz="2000" dirty="0">
              <a:solidFill>
                <a:schemeClr val="tx1"/>
              </a:solidFill>
              <a:latin typeface="微软雅黑" panose="020B0503020204020204" charset="-122"/>
              <a:ea typeface="微软雅黑" panose="020B0503020204020204" charset="-122"/>
              <a:sym typeface="+mn-ea"/>
            </a:endParaRPr>
          </a:p>
          <a:p>
            <a:pPr>
              <a:lnSpc>
                <a:spcPct val="140000"/>
              </a:lnSpc>
            </a:pPr>
            <a:r>
              <a:rPr lang="zh-CN" altLang="en-US" sz="2000" dirty="0">
                <a:solidFill>
                  <a:schemeClr val="tx1"/>
                </a:solidFill>
                <a:latin typeface="微软雅黑" panose="020B0503020204020204" charset="-122"/>
                <a:ea typeface="微软雅黑" panose="020B0503020204020204" charset="-122"/>
                <a:sym typeface="+mn-ea"/>
              </a:rPr>
              <a:t>父母离异的提供有抚养权一方和孩子的户口本、离婚协议、出生证明</a:t>
            </a:r>
            <a:endParaRPr lang="zh-CN" altLang="en-US" sz="20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8" name="文本框 7"/>
          <p:cNvSpPr txBox="true"/>
          <p:nvPr/>
        </p:nvSpPr>
        <p:spPr>
          <a:xfrm>
            <a:off x="374015" y="1560195"/>
            <a:ext cx="11444605" cy="4246245"/>
          </a:xfrm>
          <a:prstGeom prst="rect">
            <a:avLst/>
          </a:prstGeom>
          <a:noFill/>
        </p:spPr>
        <p:txBody>
          <a:bodyPr wrap="square" rtlCol="0">
            <a:spAutoFit/>
          </a:bodyPr>
          <a:lstStyle/>
          <a:p>
            <a:pPr indent="0">
              <a:lnSpc>
                <a:spcPct val="150000"/>
              </a:lnSpc>
              <a:buFont typeface="Wingdings" panose="05000000000000000000" charset="0"/>
              <a:buNone/>
            </a:pPr>
            <a:r>
              <a:rPr lang="zh-CN" altLang="en-US" sz="2000">
                <a:solidFill>
                  <a:schemeClr val="tx1"/>
                </a:solidFill>
                <a:latin typeface="+mj-ea"/>
                <a:ea typeface="+mj-ea"/>
              </a:rPr>
              <a:t>根据《北京市中小学校学生学籍管理办法》（京教基二〔2021〕1号 ）</a:t>
            </a:r>
            <a:r>
              <a:rPr lang="zh-CN" sz="2000">
                <a:latin typeface="+mj-ea"/>
                <a:ea typeface="+mj-ea"/>
                <a:sym typeface="+mn-ea"/>
              </a:rPr>
              <a:t>第二十六条</a:t>
            </a:r>
            <a:r>
              <a:rPr lang="zh-CN" altLang="en-US" sz="2000">
                <a:latin typeface="+mj-ea"/>
                <a:ea typeface="+mj-ea"/>
              </a:rPr>
              <a:t>：　</a:t>
            </a:r>
            <a:endParaRPr lang="zh-CN" altLang="en-US" sz="2000">
              <a:latin typeface="+mj-ea"/>
              <a:ea typeface="+mj-ea"/>
            </a:endParaRPr>
          </a:p>
          <a:p>
            <a:pPr indent="0" algn="just">
              <a:lnSpc>
                <a:spcPct val="150000"/>
              </a:lnSpc>
              <a:buFont typeface="Wingdings" panose="05000000000000000000" charset="0"/>
              <a:buNone/>
            </a:pPr>
            <a:r>
              <a:rPr lang="en-US" altLang="zh-CN" sz="2000">
                <a:solidFill>
                  <a:srgbClr val="FF0000"/>
                </a:solidFill>
                <a:latin typeface="+mj-ea"/>
                <a:ea typeface="+mj-ea"/>
                <a:sym typeface="+mn-ea"/>
              </a:rPr>
              <a:t>    </a:t>
            </a:r>
            <a:r>
              <a:rPr lang="zh-CN" sz="2000">
                <a:solidFill>
                  <a:srgbClr val="FF0000"/>
                </a:solidFill>
                <a:latin typeface="+mj-ea"/>
                <a:ea typeface="+mj-ea"/>
                <a:sym typeface="+mn-ea"/>
              </a:rPr>
              <a:t>本市普通高中学生原则上不予转学</a:t>
            </a:r>
            <a:r>
              <a:rPr lang="zh-CN" sz="2000">
                <a:latin typeface="+mj-ea"/>
                <a:ea typeface="+mj-ea"/>
                <a:sym typeface="+mn-ea"/>
              </a:rPr>
              <a:t>。确有严重疾病、家庭重大变故等特殊原因的，可申请转入原就读学校所在区或跨区转入其户籍或实际居住地所在区的普通高中，成绩须不低于中考当年转入学校统一招生录取分数。由转入、转出学校和双方学校所在区教委核办，报市教委备案。</a:t>
            </a:r>
            <a:endParaRPr lang="zh-CN" sz="2000">
              <a:latin typeface="+mj-ea"/>
              <a:ea typeface="+mj-ea"/>
              <a:sym typeface="+mn-ea"/>
            </a:endParaRPr>
          </a:p>
          <a:p>
            <a:pPr indent="0" algn="just">
              <a:lnSpc>
                <a:spcPct val="150000"/>
              </a:lnSpc>
              <a:buFont typeface="Wingdings" panose="05000000000000000000" charset="0"/>
              <a:buNone/>
            </a:pPr>
            <a:r>
              <a:rPr lang="en-US" altLang="zh-CN" sz="2000">
                <a:latin typeface="+mj-ea"/>
                <a:ea typeface="+mj-ea"/>
                <a:sym typeface="+mn-ea"/>
              </a:rPr>
              <a:t>    </a:t>
            </a:r>
            <a:r>
              <a:rPr lang="zh-CN" sz="2000">
                <a:latin typeface="+mj-ea"/>
                <a:ea typeface="+mj-ea"/>
                <a:sym typeface="+mn-ea"/>
              </a:rPr>
              <a:t>学生户籍由其他省、自治区、直辖市迁入本市，或有本市户籍在其他省、自治区、直辖市就读，需转到本市普通高中阶段就读的，根据学生在转出地的中考成绩情况，可转入其户籍或实际居住地所在区相对应的普通高中。转入时，应提供原就读普通高中录取证明材料、学籍档案相关材料。</a:t>
            </a:r>
            <a:endParaRPr lang="zh-CN" sz="2000">
              <a:latin typeface="+mj-ea"/>
              <a:ea typeface="+mj-ea"/>
              <a:sym typeface="+mn-ea"/>
            </a:endParaRPr>
          </a:p>
          <a:p>
            <a:pPr indent="0" algn="just">
              <a:lnSpc>
                <a:spcPct val="150000"/>
              </a:lnSpc>
              <a:buFont typeface="Wingdings" panose="05000000000000000000" charset="0"/>
              <a:buNone/>
            </a:pPr>
            <a:r>
              <a:rPr lang="en-US" altLang="zh-CN" sz="2000">
                <a:latin typeface="+mj-ea"/>
                <a:ea typeface="+mj-ea"/>
                <a:sym typeface="+mn-ea"/>
              </a:rPr>
              <a:t>    </a:t>
            </a:r>
            <a:r>
              <a:rPr lang="zh-CN" sz="2000">
                <a:latin typeface="+mj-ea"/>
                <a:ea typeface="+mj-ea"/>
                <a:sym typeface="+mn-ea"/>
              </a:rPr>
              <a:t>从境外到本市落户，或有本市户籍在境外就读，需转到本市普通高中阶段就读的，参照前款规定办理。转入时，应提供境外原就读高中录取证明材料、已修高中阶段学业情况相关材料。</a:t>
            </a:r>
            <a:endParaRPr lang="zh-CN" sz="2000">
              <a:latin typeface="+mj-ea"/>
              <a:ea typeface="+mj-ea"/>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3671570" cy="489585"/>
          </a:xfrm>
          <a:prstGeom prst="rect">
            <a:avLst/>
          </a:prstGeom>
          <a:noFill/>
        </p:spPr>
        <p:txBody>
          <a:bodyPr wrap="none" lIns="121917" tIns="60958" rIns="121917" bIns="60958" rtlCol="0">
            <a:spAutoFit/>
          </a:bodyPr>
          <a:lstStyle/>
          <a:p>
            <a:pPr algn="l"/>
            <a:r>
              <a:rPr lang="en-US" altLang="zh-CN" sz="2400" dirty="0">
                <a:solidFill>
                  <a:schemeClr val="bg1"/>
                </a:solidFill>
              </a:rPr>
              <a:t>02 </a:t>
            </a:r>
            <a:r>
              <a:rPr lang="zh-CN" altLang="en-US" sz="2400" dirty="0">
                <a:solidFill>
                  <a:schemeClr val="bg1"/>
                </a:solidFill>
              </a:rPr>
              <a:t>转学条件（</a:t>
            </a:r>
            <a:r>
              <a:rPr lang="zh-CN" altLang="en-US" sz="2400" dirty="0">
                <a:solidFill>
                  <a:schemeClr val="bg1"/>
                </a:solidFill>
                <a:sym typeface="+mn-ea"/>
              </a:rPr>
              <a:t>高中阶段</a:t>
            </a:r>
            <a:r>
              <a:rPr lang="zh-CN" altLang="en-US" sz="2400" dirty="0">
                <a:solidFill>
                  <a:schemeClr val="bg1"/>
                </a:solidFill>
              </a:rPr>
              <a:t>）</a:t>
            </a:r>
            <a:endParaRPr lang="zh-CN" altLang="en-US" sz="2400" dirty="0">
              <a:solidFill>
                <a:schemeClr val="bg1"/>
              </a:solidFill>
            </a:endParaRPr>
          </a:p>
        </p:txBody>
      </p:sp>
      <p:sp>
        <p:nvSpPr>
          <p:cNvPr id="8" name="文本框 7"/>
          <p:cNvSpPr txBox="true"/>
          <p:nvPr/>
        </p:nvSpPr>
        <p:spPr>
          <a:xfrm>
            <a:off x="1965325" y="1680210"/>
            <a:ext cx="8261350" cy="3969385"/>
          </a:xfrm>
          <a:prstGeom prst="rect">
            <a:avLst/>
          </a:prstGeom>
          <a:noFill/>
        </p:spPr>
        <p:txBody>
          <a:bodyPr wrap="square" rtlCol="0">
            <a:spAutoFit/>
          </a:bodyPr>
          <a:lstStyle/>
          <a:p>
            <a:pPr indent="0">
              <a:lnSpc>
                <a:spcPct val="140000"/>
              </a:lnSpc>
              <a:buFont typeface="Wingdings" panose="05000000000000000000" charset="0"/>
              <a:buNone/>
            </a:pPr>
            <a:r>
              <a:rPr lang="en-US" altLang="zh-CN" sz="2000" b="1">
                <a:solidFill>
                  <a:schemeClr val="tx1"/>
                </a:solidFill>
                <a:latin typeface="微软雅黑" panose="020B0503020204020204" charset="-122"/>
                <a:ea typeface="微软雅黑" panose="020B0503020204020204" charset="-122"/>
                <a:sym typeface="+mn-ea"/>
              </a:rPr>
              <a:t>转入市级</a:t>
            </a:r>
            <a:r>
              <a:rPr lang="zh-CN" altLang="en-US" sz="2000" b="1">
                <a:solidFill>
                  <a:schemeClr val="tx1"/>
                </a:solidFill>
                <a:latin typeface="微软雅黑" panose="020B0503020204020204" charset="-122"/>
                <a:ea typeface="微软雅黑" panose="020B0503020204020204" charset="-122"/>
                <a:sym typeface="+mn-ea"/>
              </a:rPr>
              <a:t>示范性学</a:t>
            </a:r>
            <a:r>
              <a:rPr lang="en-US" altLang="zh-CN" sz="2000" b="1">
                <a:solidFill>
                  <a:schemeClr val="tx1"/>
                </a:solidFill>
                <a:latin typeface="微软雅黑" panose="020B0503020204020204" charset="-122"/>
                <a:ea typeface="微软雅黑" panose="020B0503020204020204" charset="-122"/>
                <a:sym typeface="+mn-ea"/>
              </a:rPr>
              <a:t>校的学生需提供原学校省级示范性</a:t>
            </a:r>
            <a:r>
              <a:rPr lang="zh-CN" altLang="en-US" sz="2000" b="1">
                <a:solidFill>
                  <a:schemeClr val="tx1"/>
                </a:solidFill>
                <a:latin typeface="微软雅黑" panose="020B0503020204020204" charset="-122"/>
                <a:ea typeface="微软雅黑" panose="020B0503020204020204" charset="-122"/>
                <a:sym typeface="+mn-ea"/>
              </a:rPr>
              <a:t>学校</a:t>
            </a:r>
            <a:r>
              <a:rPr lang="en-US" altLang="zh-CN" sz="2000" b="1">
                <a:solidFill>
                  <a:schemeClr val="tx1"/>
                </a:solidFill>
                <a:latin typeface="微软雅黑" panose="020B0503020204020204" charset="-122"/>
                <a:ea typeface="微软雅黑" panose="020B0503020204020204" charset="-122"/>
                <a:sym typeface="+mn-ea"/>
              </a:rPr>
              <a:t>的证明</a:t>
            </a:r>
            <a:r>
              <a:rPr lang="zh-CN" altLang="en-US" sz="2000" b="1">
                <a:solidFill>
                  <a:schemeClr val="tx1"/>
                </a:solidFill>
                <a:latin typeface="微软雅黑" panose="020B0503020204020204" charset="-122"/>
                <a:ea typeface="微软雅黑" panose="020B0503020204020204" charset="-122"/>
                <a:sym typeface="+mn-ea"/>
              </a:rPr>
              <a:t>。</a:t>
            </a:r>
            <a:endParaRPr lang="en-US" altLang="zh-CN" sz="2000" b="1">
              <a:solidFill>
                <a:schemeClr val="tx1"/>
              </a:solidFill>
              <a:latin typeface="微软雅黑" panose="020B0503020204020204" charset="-122"/>
              <a:ea typeface="微软雅黑" panose="020B0503020204020204" charset="-122"/>
            </a:endParaRPr>
          </a:p>
          <a:p>
            <a:pPr indent="0">
              <a:lnSpc>
                <a:spcPct val="140000"/>
              </a:lnSpc>
              <a:buFont typeface="Wingdings" panose="05000000000000000000" charset="0"/>
              <a:buNone/>
            </a:pPr>
            <a:endParaRPr lang="en-US" altLang="zh-CN" sz="2000">
              <a:solidFill>
                <a:schemeClr val="tx1"/>
              </a:solidFill>
              <a:latin typeface="微软雅黑" panose="020B0503020204020204" charset="-122"/>
              <a:ea typeface="微软雅黑" panose="020B0503020204020204" charset="-122"/>
            </a:endParaRPr>
          </a:p>
          <a:p>
            <a:pPr marL="342900" indent="-342900">
              <a:lnSpc>
                <a:spcPct val="140000"/>
              </a:lnSpc>
              <a:buFont typeface="Wingdings" panose="05000000000000000000" charset="0"/>
              <a:buChar char=""/>
            </a:pPr>
            <a:r>
              <a:rPr lang="en-US" altLang="zh-CN" sz="2000">
                <a:solidFill>
                  <a:schemeClr val="tx1"/>
                </a:solidFill>
                <a:latin typeface="微软雅黑" panose="020B0503020204020204" charset="-122"/>
                <a:ea typeface="微软雅黑" panose="020B0503020204020204" charset="-122"/>
              </a:rPr>
              <a:t>从</a:t>
            </a:r>
            <a:r>
              <a:rPr lang="en-US" altLang="zh-CN" sz="2000" b="1">
                <a:solidFill>
                  <a:schemeClr val="tx1"/>
                </a:solidFill>
                <a:latin typeface="微软雅黑" panose="020B0503020204020204" charset="-122"/>
                <a:ea typeface="微软雅黑" panose="020B0503020204020204" charset="-122"/>
              </a:rPr>
              <a:t>外省市</a:t>
            </a:r>
            <a:r>
              <a:rPr lang="en-US" altLang="zh-CN" sz="2000">
                <a:solidFill>
                  <a:schemeClr val="tx1"/>
                </a:solidFill>
                <a:latin typeface="微软雅黑" panose="020B0503020204020204" charset="-122"/>
                <a:ea typeface="微软雅黑" panose="020B0503020204020204" charset="-122"/>
              </a:rPr>
              <a:t>转入                               </a:t>
            </a:r>
            <a:endParaRPr lang="en-US" altLang="zh-CN" sz="2000">
              <a:solidFill>
                <a:schemeClr val="tx1"/>
              </a:solidFill>
              <a:latin typeface="微软雅黑" panose="020B0503020204020204" charset="-122"/>
              <a:ea typeface="微软雅黑" panose="020B0503020204020204" charset="-122"/>
            </a:endParaRPr>
          </a:p>
          <a:p>
            <a:pPr algn="just">
              <a:lnSpc>
                <a:spcPct val="140000"/>
              </a:lnSpc>
            </a:pPr>
            <a:r>
              <a:rPr lang="en-US" altLang="zh-CN" sz="2000">
                <a:solidFill>
                  <a:schemeClr val="tx1"/>
                </a:solidFill>
                <a:latin typeface="微软雅黑" panose="020B0503020204020204" charset="-122"/>
                <a:ea typeface="微软雅黑" panose="020B0503020204020204" charset="-122"/>
              </a:rPr>
              <a:t>  1.</a:t>
            </a:r>
            <a:r>
              <a:rPr lang="zh-CN" altLang="en-US" sz="2000">
                <a:solidFill>
                  <a:srgbClr val="FF0000"/>
                </a:solidFill>
                <a:latin typeface="微软雅黑" panose="020B0503020204020204" charset="-122"/>
                <a:ea typeface="微软雅黑" panose="020B0503020204020204" charset="-122"/>
              </a:rPr>
              <a:t>学生的户籍</a:t>
            </a:r>
            <a:r>
              <a:rPr lang="zh-CN" altLang="en-US" sz="2000">
                <a:solidFill>
                  <a:schemeClr val="tx1"/>
                </a:solidFill>
                <a:latin typeface="微软雅黑" panose="020B0503020204020204" charset="-122"/>
                <a:ea typeface="微软雅黑" panose="020B0503020204020204" charset="-122"/>
              </a:rPr>
              <a:t>在门头沟区：上传户主页与学生本人页。</a:t>
            </a:r>
            <a:endParaRPr lang="zh-CN" altLang="en-US" sz="2000">
              <a:solidFill>
                <a:schemeClr val="tx1"/>
              </a:solidFill>
              <a:latin typeface="微软雅黑" panose="020B0503020204020204" charset="-122"/>
              <a:ea typeface="微软雅黑" panose="020B0503020204020204" charset="-122"/>
            </a:endParaRPr>
          </a:p>
          <a:p>
            <a:pPr algn="just">
              <a:lnSpc>
                <a:spcPct val="140000"/>
              </a:lnSpc>
            </a:pPr>
            <a:r>
              <a:rPr lang="en-US" altLang="zh-CN" sz="2000" b="1">
                <a:solidFill>
                  <a:schemeClr val="tx1"/>
                </a:solidFill>
                <a:latin typeface="微软雅黑" panose="020B0503020204020204" charset="-122"/>
                <a:ea typeface="微软雅黑" panose="020B0503020204020204" charset="-122"/>
              </a:rPr>
              <a:t>  2.</a:t>
            </a:r>
            <a:r>
              <a:rPr lang="zh-CN" altLang="en-US" sz="2000" b="1">
                <a:solidFill>
                  <a:srgbClr val="FF0000"/>
                </a:solidFill>
                <a:latin typeface="微软雅黑" panose="020B0503020204020204" charset="-122"/>
                <a:ea typeface="微软雅黑" panose="020B0503020204020204" charset="-122"/>
              </a:rPr>
              <a:t>法定监护人</a:t>
            </a:r>
            <a:r>
              <a:rPr lang="zh-CN" altLang="en-US" sz="2000">
                <a:solidFill>
                  <a:srgbClr val="FF0000"/>
                </a:solidFill>
                <a:latin typeface="微软雅黑" panose="020B0503020204020204" charset="-122"/>
                <a:ea typeface="微软雅黑" panose="020B0503020204020204" charset="-122"/>
              </a:rPr>
              <a:t>的房产</a:t>
            </a:r>
            <a:r>
              <a:rPr lang="zh-CN" altLang="en-US" sz="2000">
                <a:solidFill>
                  <a:schemeClr val="tx1"/>
                </a:solidFill>
                <a:latin typeface="微软雅黑" panose="020B0503020204020204" charset="-122"/>
                <a:ea typeface="微软雅黑" panose="020B0503020204020204" charset="-122"/>
              </a:rPr>
              <a:t>在门头沟区：上传户主页与学生本人页</a:t>
            </a:r>
            <a:r>
              <a:rPr lang="en-US" altLang="zh-CN" sz="2000">
                <a:solidFill>
                  <a:schemeClr val="tx1"/>
                </a:solidFill>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sym typeface="+mn-ea"/>
              </a:rPr>
              <a:t>法定监护人的房产证、法定监护人与学生的亲子关系证明材料。</a:t>
            </a:r>
            <a:endParaRPr lang="zh-CN" altLang="en-US" sz="2000">
              <a:latin typeface="微软雅黑" panose="020B0503020204020204" charset="-122"/>
              <a:ea typeface="微软雅黑" panose="020B0503020204020204" charset="-122"/>
              <a:sym typeface="+mn-ea"/>
            </a:endParaRPr>
          </a:p>
          <a:p>
            <a:pPr algn="just">
              <a:lnSpc>
                <a:spcPct val="140000"/>
              </a:lnSpc>
            </a:pPr>
            <a:r>
              <a:rPr lang="en-US" altLang="zh-CN" sz="2000">
                <a:solidFill>
                  <a:schemeClr val="tx1"/>
                </a:solidFill>
                <a:latin typeface="微软雅黑" panose="020B0503020204020204" charset="-122"/>
                <a:ea typeface="微软雅黑" panose="020B0503020204020204" charset="-122"/>
                <a:sym typeface="+mn-ea"/>
              </a:rPr>
              <a:t>  </a:t>
            </a:r>
            <a:r>
              <a:rPr lang="en-US" altLang="zh-CN" sz="2000" b="1">
                <a:solidFill>
                  <a:schemeClr val="tx1"/>
                </a:solidFill>
                <a:latin typeface="微软雅黑" panose="020B0503020204020204" charset="-122"/>
                <a:ea typeface="微软雅黑" panose="020B0503020204020204" charset="-122"/>
                <a:sym typeface="+mn-ea"/>
              </a:rPr>
              <a:t>3.</a:t>
            </a:r>
            <a:r>
              <a:rPr lang="zh-CN" altLang="en-US" sz="2000" b="1">
                <a:solidFill>
                  <a:schemeClr val="tx1"/>
                </a:solidFill>
                <a:latin typeface="微软雅黑" panose="020B0503020204020204" charset="-122"/>
                <a:ea typeface="微软雅黑" panose="020B0503020204020204" charset="-122"/>
                <a:sym typeface="+mn-ea"/>
              </a:rPr>
              <a:t>在外省市高中的高中录取材料，如录取通知书、学籍卡片。</a:t>
            </a:r>
            <a:endParaRPr lang="zh-CN" altLang="en-US" sz="2000" b="1">
              <a:solidFill>
                <a:schemeClr val="tx1"/>
              </a:solidFill>
              <a:latin typeface="微软雅黑" panose="020B0503020204020204" charset="-122"/>
              <a:ea typeface="微软雅黑" panose="020B0503020204020204" charset="-122"/>
              <a:sym typeface="+mn-ea"/>
            </a:endParaRPr>
          </a:p>
          <a:p>
            <a:pPr algn="just">
              <a:lnSpc>
                <a:spcPct val="140000"/>
              </a:lnSpc>
            </a:pPr>
            <a:r>
              <a:rPr lang="en-US" altLang="zh-CN" sz="2000" b="1">
                <a:solidFill>
                  <a:schemeClr val="tx1"/>
                </a:solidFill>
                <a:latin typeface="微软雅黑" panose="020B0503020204020204" charset="-122"/>
                <a:ea typeface="微软雅黑" panose="020B0503020204020204" charset="-122"/>
                <a:sym typeface="+mn-ea"/>
              </a:rPr>
              <a:t>  4.</a:t>
            </a:r>
            <a:r>
              <a:rPr lang="zh-CN" altLang="en-US" sz="2000" b="1">
                <a:solidFill>
                  <a:schemeClr val="tx1"/>
                </a:solidFill>
                <a:latin typeface="微软雅黑" panose="020B0503020204020204" charset="-122"/>
                <a:ea typeface="微软雅黑" panose="020B0503020204020204" charset="-122"/>
                <a:sym typeface="+mn-ea"/>
              </a:rPr>
              <a:t>在外省市当年中考排名百分比证明材料。</a:t>
            </a:r>
            <a:endParaRPr lang="zh-CN" altLang="en-US" sz="2000" b="1">
              <a:solidFill>
                <a:schemeClr val="tx1"/>
              </a:solidFill>
              <a:latin typeface="微软雅黑" panose="020B0503020204020204" charset="-122"/>
              <a:ea typeface="微软雅黑" panose="020B0503020204020204" charset="-122"/>
              <a:sym typeface="+mn-ea"/>
            </a:endParaRPr>
          </a:p>
          <a:p>
            <a:pPr algn="just">
              <a:lnSpc>
                <a:spcPct val="140000"/>
              </a:lnSpc>
            </a:pPr>
            <a:r>
              <a:rPr lang="en-US" altLang="zh-CN" sz="2000" b="1">
                <a:solidFill>
                  <a:schemeClr val="tx1"/>
                </a:solidFill>
                <a:latin typeface="微软雅黑" panose="020B0503020204020204" charset="-122"/>
                <a:ea typeface="微软雅黑" panose="020B0503020204020204" charset="-122"/>
                <a:sym typeface="+mn-ea"/>
              </a:rPr>
              <a:t>  5.</a:t>
            </a:r>
            <a:r>
              <a:rPr lang="zh-CN" altLang="en-US" sz="2000" b="1">
                <a:solidFill>
                  <a:schemeClr val="tx1"/>
                </a:solidFill>
                <a:latin typeface="微软雅黑" panose="020B0503020204020204" charset="-122"/>
                <a:ea typeface="微软雅黑" panose="020B0503020204020204" charset="-122"/>
                <a:sym typeface="+mn-ea"/>
              </a:rPr>
              <a:t>本校当年中考最低录取分数线排名百分比证明材料。</a:t>
            </a:r>
            <a:endParaRPr lang="zh-CN" altLang="en-US" sz="2000" b="1">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梯形 1"/>
          <p:cNvSpPr/>
          <p:nvPr/>
        </p:nvSpPr>
        <p:spPr>
          <a:xfrm>
            <a:off x="142240" y="281406"/>
            <a:ext cx="2067560" cy="483303"/>
          </a:xfrm>
          <a:prstGeom prst="trapezoid">
            <a:avLst/>
          </a:prstGeom>
          <a:solidFill>
            <a:srgbClr val="CC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463025"/>
            <a:ext cx="6877050" cy="784750"/>
          </a:xfrm>
          <a:custGeom>
            <a:avLst/>
            <a:gdLst>
              <a:gd name="connsiteX0" fmla="*/ 0 w 6877050"/>
              <a:gd name="connsiteY0" fmla="*/ 0 h 783320"/>
              <a:gd name="connsiteX1" fmla="*/ 6877050 w 6877050"/>
              <a:gd name="connsiteY1" fmla="*/ 0 h 783320"/>
              <a:gd name="connsiteX2" fmla="*/ 6877050 w 6877050"/>
              <a:gd name="connsiteY2" fmla="*/ 783320 h 783320"/>
              <a:gd name="connsiteX3" fmla="*/ 0 w 6877050"/>
              <a:gd name="connsiteY3" fmla="*/ 783320 h 783320"/>
              <a:gd name="connsiteX4" fmla="*/ 0 w 6877050"/>
              <a:gd name="connsiteY4" fmla="*/ 0 h 783320"/>
              <a:gd name="connsiteX0-1" fmla="*/ 0 w 6877050"/>
              <a:gd name="connsiteY0-2" fmla="*/ 0 h 784750"/>
              <a:gd name="connsiteX1-3" fmla="*/ 6877050 w 6877050"/>
              <a:gd name="connsiteY1-4" fmla="*/ 0 h 784750"/>
              <a:gd name="connsiteX2-5" fmla="*/ 6877050 w 6877050"/>
              <a:gd name="connsiteY2-6" fmla="*/ 783320 h 784750"/>
              <a:gd name="connsiteX3-7" fmla="*/ 6505575 w 6877050"/>
              <a:gd name="connsiteY3-8" fmla="*/ 784750 h 784750"/>
              <a:gd name="connsiteX4-9" fmla="*/ 0 w 6877050"/>
              <a:gd name="connsiteY4-10" fmla="*/ 783320 h 784750"/>
              <a:gd name="connsiteX5" fmla="*/ 0 w 6877050"/>
              <a:gd name="connsiteY5" fmla="*/ 0 h 784750"/>
              <a:gd name="connsiteX0-11" fmla="*/ 0 w 6877050"/>
              <a:gd name="connsiteY0-12" fmla="*/ 0 h 784750"/>
              <a:gd name="connsiteX1-13" fmla="*/ 6877050 w 6877050"/>
              <a:gd name="connsiteY1-14" fmla="*/ 0 h 784750"/>
              <a:gd name="connsiteX2-15" fmla="*/ 6505575 w 6877050"/>
              <a:gd name="connsiteY2-16" fmla="*/ 784750 h 784750"/>
              <a:gd name="connsiteX3-17" fmla="*/ 0 w 6877050"/>
              <a:gd name="connsiteY3-18" fmla="*/ 783320 h 784750"/>
              <a:gd name="connsiteX4-19" fmla="*/ 0 w 6877050"/>
              <a:gd name="connsiteY4-20" fmla="*/ 0 h 7847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77050" h="784750">
                <a:moveTo>
                  <a:pt x="0" y="0"/>
                </a:moveTo>
                <a:lnTo>
                  <a:pt x="6877050" y="0"/>
                </a:lnTo>
                <a:lnTo>
                  <a:pt x="6505575" y="784750"/>
                </a:lnTo>
                <a:lnTo>
                  <a:pt x="0" y="783320"/>
                </a:lnTo>
                <a:lnTo>
                  <a:pt x="0" y="0"/>
                </a:ln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梯形 3"/>
          <p:cNvSpPr/>
          <p:nvPr/>
        </p:nvSpPr>
        <p:spPr>
          <a:xfrm flipV="true">
            <a:off x="260350" y="274373"/>
            <a:ext cx="1827530" cy="490336"/>
          </a:xfrm>
          <a:prstGeom prst="trapezoid">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true"/>
          <p:nvPr/>
        </p:nvSpPr>
        <p:spPr>
          <a:xfrm>
            <a:off x="352297" y="425700"/>
            <a:ext cx="1735583" cy="275590"/>
          </a:xfrm>
          <a:prstGeom prst="rect">
            <a:avLst/>
          </a:prstGeom>
          <a:noFill/>
        </p:spPr>
        <p:txBody>
          <a:bodyPr wrap="square" rtlCol="0">
            <a:spAutoFit/>
          </a:bodyPr>
          <a:lstStyle/>
          <a:p>
            <a:pPr algn="ctr"/>
            <a:r>
              <a:rPr lang="zh-CN" altLang="en-US" sz="1200" b="1" dirty="0">
                <a:solidFill>
                  <a:schemeClr val="bg1"/>
                </a:solidFill>
              </a:rPr>
              <a:t>门头沟区教育委员会</a:t>
            </a:r>
            <a:endParaRPr lang="zh-CN" altLang="en-US" sz="1200" b="1" dirty="0">
              <a:solidFill>
                <a:schemeClr val="bg1"/>
              </a:solidFill>
            </a:endParaRPr>
          </a:p>
        </p:txBody>
      </p:sp>
      <p:sp>
        <p:nvSpPr>
          <p:cNvPr id="6" name="TextBox 17"/>
          <p:cNvSpPr txBox="true"/>
          <p:nvPr/>
        </p:nvSpPr>
        <p:spPr>
          <a:xfrm>
            <a:off x="2205990" y="609181"/>
            <a:ext cx="1885315" cy="489585"/>
          </a:xfrm>
          <a:prstGeom prst="rect">
            <a:avLst/>
          </a:prstGeom>
          <a:noFill/>
        </p:spPr>
        <p:txBody>
          <a:bodyPr wrap="none" lIns="121917" tIns="60958" rIns="121917" bIns="60958" rtlCol="0">
            <a:spAutoFit/>
          </a:bodyPr>
          <a:lstStyle/>
          <a:p>
            <a:r>
              <a:rPr lang="en-US" altLang="zh-CN" sz="2400" dirty="0">
                <a:solidFill>
                  <a:schemeClr val="bg1"/>
                </a:solidFill>
              </a:rPr>
              <a:t>02 </a:t>
            </a:r>
            <a:r>
              <a:rPr lang="zh-CN" altLang="en-US" sz="2400" dirty="0">
                <a:solidFill>
                  <a:schemeClr val="bg1"/>
                </a:solidFill>
              </a:rPr>
              <a:t>转学条件</a:t>
            </a:r>
            <a:endParaRPr lang="zh-CN" altLang="en-US" sz="2400" dirty="0">
              <a:solidFill>
                <a:schemeClr val="bg1"/>
              </a:solidFill>
            </a:endParaRPr>
          </a:p>
        </p:txBody>
      </p:sp>
      <p:sp>
        <p:nvSpPr>
          <p:cNvPr id="8" name="文本框 7"/>
          <p:cNvSpPr txBox="true"/>
          <p:nvPr/>
        </p:nvSpPr>
        <p:spPr>
          <a:xfrm>
            <a:off x="935990" y="1108075"/>
            <a:ext cx="10320020" cy="5262245"/>
          </a:xfrm>
          <a:prstGeom prst="rect">
            <a:avLst/>
          </a:prstGeom>
          <a:noFill/>
        </p:spPr>
        <p:txBody>
          <a:bodyPr wrap="square" rtlCol="0">
            <a:spAutoFit/>
          </a:bodyPr>
          <a:lstStyle/>
          <a:p>
            <a:pPr marL="342900" indent="-342900">
              <a:lnSpc>
                <a:spcPct val="140000"/>
              </a:lnSpc>
              <a:buFont typeface="Wingdings" panose="05000000000000000000" charset="0"/>
              <a:buChar char=""/>
            </a:pPr>
            <a:r>
              <a:rPr lang="zh-CN" altLang="en-US" sz="2000" dirty="0">
                <a:solidFill>
                  <a:schemeClr val="tx1"/>
                </a:solidFill>
                <a:latin typeface="微软雅黑" panose="020B0503020204020204" charset="-122"/>
                <a:ea typeface="微软雅黑" panose="020B0503020204020204" charset="-122"/>
              </a:rPr>
              <a:t>从</a:t>
            </a:r>
            <a:r>
              <a:rPr lang="zh-CN" altLang="en-US" sz="2000" b="1" dirty="0">
                <a:solidFill>
                  <a:schemeClr val="tx1"/>
                </a:solidFill>
                <a:latin typeface="微软雅黑" panose="020B0503020204020204" charset="-122"/>
                <a:ea typeface="微软雅黑" panose="020B0503020204020204" charset="-122"/>
                <a:sym typeface="+mn-ea"/>
              </a:rPr>
              <a:t>本市其他区或</a:t>
            </a:r>
            <a:r>
              <a:rPr lang="en-US" altLang="zh-CN" sz="2000" b="1" dirty="0" err="1">
                <a:solidFill>
                  <a:schemeClr val="tx1"/>
                </a:solidFill>
                <a:latin typeface="微软雅黑" panose="020B0503020204020204" charset="-122"/>
                <a:ea typeface="微软雅黑" panose="020B0503020204020204" charset="-122"/>
              </a:rPr>
              <a:t>本区</a:t>
            </a:r>
            <a:r>
              <a:rPr lang="en-US" altLang="zh-CN" sz="2000" dirty="0" err="1">
                <a:solidFill>
                  <a:schemeClr val="tx1"/>
                </a:solidFill>
                <a:latin typeface="微软雅黑" panose="020B0503020204020204" charset="-122"/>
                <a:ea typeface="微软雅黑" panose="020B0503020204020204" charset="-122"/>
              </a:rPr>
              <a:t>转入</a:t>
            </a:r>
            <a:endParaRPr lang="zh-CN" altLang="en-US" sz="2000" dirty="0">
              <a:solidFill>
                <a:schemeClr val="tx1"/>
              </a:solidFill>
              <a:latin typeface="微软雅黑" panose="020B0503020204020204" charset="-122"/>
              <a:ea typeface="微软雅黑" panose="020B0503020204020204" charset="-122"/>
            </a:endParaRPr>
          </a:p>
          <a:p>
            <a:pPr>
              <a:lnSpc>
                <a:spcPct val="140000"/>
              </a:lnSpc>
            </a:pPr>
            <a:r>
              <a:rPr lang="en-US" altLang="zh-CN" sz="2000" dirty="0">
                <a:latin typeface="微软雅黑" panose="020B0503020204020204" charset="-122"/>
                <a:ea typeface="微软雅黑" panose="020B0503020204020204" charset="-122"/>
                <a:sym typeface="+mn-ea"/>
              </a:rPr>
              <a:t>   1.</a:t>
            </a:r>
            <a:r>
              <a:rPr lang="zh-CN" sz="2000" dirty="0">
                <a:latin typeface="微软雅黑" panose="020B0503020204020204" charset="-122"/>
                <a:ea typeface="微软雅黑" panose="020B0503020204020204" charset="-122"/>
                <a:sym typeface="+mn-ea"/>
              </a:rPr>
              <a:t>因特</a:t>
            </a:r>
            <a:r>
              <a:rPr sz="2000" dirty="0" err="1">
                <a:latin typeface="微软雅黑" panose="020B0503020204020204" charset="-122"/>
                <a:ea typeface="微软雅黑" panose="020B0503020204020204" charset="-122"/>
                <a:sym typeface="+mn-ea"/>
              </a:rPr>
              <a:t>殊原因在</a:t>
            </a:r>
            <a:r>
              <a:rPr sz="2000" dirty="0" err="1">
                <a:solidFill>
                  <a:srgbClr val="FF0000"/>
                </a:solidFill>
                <a:latin typeface="微软雅黑" panose="020B0503020204020204" charset="-122"/>
                <a:ea typeface="微软雅黑" panose="020B0503020204020204" charset="-122"/>
                <a:sym typeface="+mn-ea"/>
              </a:rPr>
              <a:t>原就读学校</a:t>
            </a:r>
            <a:r>
              <a:rPr sz="2000" dirty="0" err="1">
                <a:latin typeface="微软雅黑" panose="020B0503020204020204" charset="-122"/>
                <a:ea typeface="微软雅黑" panose="020B0503020204020204" charset="-122"/>
                <a:sym typeface="+mn-ea"/>
              </a:rPr>
              <a:t>所在区内转学的，提交特殊原因证明材料</a:t>
            </a:r>
            <a:r>
              <a:rPr sz="2000" dirty="0">
                <a:latin typeface="微软雅黑" panose="020B0503020204020204" charset="-122"/>
                <a:ea typeface="微软雅黑" panose="020B0503020204020204" charset="-122"/>
                <a:sym typeface="+mn-ea"/>
              </a:rPr>
              <a:t>。</a:t>
            </a:r>
            <a:endParaRPr sz="2000" dirty="0">
              <a:latin typeface="微软雅黑" panose="020B0503020204020204" charset="-122"/>
              <a:ea typeface="微软雅黑" panose="020B0503020204020204" charset="-122"/>
              <a:sym typeface="+mn-ea"/>
            </a:endParaRPr>
          </a:p>
          <a:p>
            <a:pPr>
              <a:lnSpc>
                <a:spcPct val="140000"/>
              </a:lnSpc>
            </a:pPr>
            <a:r>
              <a:rPr sz="2000" dirty="0">
                <a:latin typeface="微软雅黑" panose="020B0503020204020204" charset="-122"/>
                <a:ea typeface="微软雅黑" panose="020B0503020204020204" charset="-122"/>
                <a:sym typeface="+mn-ea"/>
              </a:rPr>
              <a:t> </a:t>
            </a:r>
            <a:r>
              <a:rPr lang="en-US" sz="2000" dirty="0">
                <a:latin typeface="微软雅黑" panose="020B0503020204020204" charset="-122"/>
                <a:ea typeface="微软雅黑" panose="020B0503020204020204" charset="-122"/>
                <a:sym typeface="+mn-ea"/>
              </a:rPr>
              <a:t>  </a:t>
            </a:r>
            <a:r>
              <a:rPr lang="zh-CN" altLang="en-US" sz="2000" b="1" dirty="0">
                <a:latin typeface="微软雅黑" panose="020B0503020204020204" charset="-122"/>
                <a:ea typeface="微软雅黑" panose="020B0503020204020204" charset="-122"/>
                <a:sym typeface="+mn-ea"/>
              </a:rPr>
              <a:t>（</a:t>
            </a:r>
            <a:r>
              <a:rPr lang="en-US" altLang="zh-CN" sz="2000" b="1" dirty="0">
                <a:latin typeface="微软雅黑" panose="020B0503020204020204" charset="-122"/>
                <a:ea typeface="微软雅黑" panose="020B0503020204020204" charset="-122"/>
                <a:sym typeface="+mn-ea"/>
              </a:rPr>
              <a:t>1</a:t>
            </a:r>
            <a:r>
              <a:rPr lang="zh-CN" altLang="en-US" sz="2000" b="1" dirty="0">
                <a:latin typeface="微软雅黑" panose="020B0503020204020204" charset="-122"/>
                <a:ea typeface="微软雅黑" panose="020B0503020204020204" charset="-122"/>
                <a:sym typeface="+mn-ea"/>
              </a:rPr>
              <a:t>）</a:t>
            </a:r>
            <a:r>
              <a:rPr sz="2000" b="1" dirty="0" err="1">
                <a:latin typeface="微软雅黑" panose="020B0503020204020204" charset="-122"/>
                <a:ea typeface="微软雅黑" panose="020B0503020204020204" charset="-122"/>
                <a:sym typeface="+mn-ea"/>
              </a:rPr>
              <a:t>严重疾病的</a:t>
            </a:r>
            <a:r>
              <a:rPr lang="zh-CN" sz="2000" b="1" dirty="0">
                <a:latin typeface="微软雅黑" panose="020B0503020204020204" charset="-122"/>
                <a:ea typeface="微软雅黑" panose="020B0503020204020204" charset="-122"/>
                <a:sym typeface="+mn-ea"/>
              </a:rPr>
              <a:t>：</a:t>
            </a:r>
            <a:r>
              <a:rPr lang="zh-CN" sz="2000" dirty="0">
                <a:latin typeface="微软雅黑" panose="020B0503020204020204" charset="-122"/>
                <a:ea typeface="微软雅黑" panose="020B0503020204020204" charset="-122"/>
                <a:sym typeface="+mn-ea"/>
              </a:rPr>
              <a:t>上传</a:t>
            </a:r>
            <a:r>
              <a:rPr lang="zh-CN" altLang="en-US" sz="2000" dirty="0">
                <a:latin typeface="微软雅黑" panose="020B0503020204020204" charset="-122"/>
                <a:ea typeface="微软雅黑" panose="020B0503020204020204" charset="-122"/>
                <a:sym typeface="+mn-ea"/>
              </a:rPr>
              <a:t>户主页与学生本人页</a:t>
            </a:r>
            <a:r>
              <a:rPr lang="en-US" altLang="zh-CN" sz="2000" dirty="0">
                <a:latin typeface="微软雅黑" panose="020B0503020204020204" charset="-122"/>
                <a:ea typeface="微软雅黑" panose="020B0503020204020204" charset="-122"/>
                <a:sym typeface="+mn-ea"/>
              </a:rPr>
              <a:t>+</a:t>
            </a:r>
            <a:r>
              <a:rPr sz="2000" dirty="0" err="1">
                <a:latin typeface="微软雅黑" panose="020B0503020204020204" charset="-122"/>
                <a:ea typeface="微软雅黑" panose="020B0503020204020204" charset="-122"/>
                <a:sym typeface="+mn-ea"/>
              </a:rPr>
              <a:t>转学申请</a:t>
            </a:r>
            <a:r>
              <a:rPr lang="zh-CN" sz="2000" dirty="0">
                <a:latin typeface="微软雅黑" panose="020B0503020204020204" charset="-122"/>
                <a:ea typeface="微软雅黑" panose="020B0503020204020204" charset="-122"/>
                <a:sym typeface="+mn-ea"/>
              </a:rPr>
              <a:t>、</a:t>
            </a:r>
            <a:r>
              <a:rPr sz="2000" dirty="0" err="1">
                <a:latin typeface="微软雅黑" panose="020B0503020204020204" charset="-122"/>
                <a:ea typeface="微软雅黑" panose="020B0503020204020204" charset="-122"/>
                <a:sym typeface="+mn-ea"/>
              </a:rPr>
              <a:t>三级甲等及以上医院病历或其他证明材料</a:t>
            </a:r>
            <a:r>
              <a:rPr lang="zh-CN" sz="2000" dirty="0">
                <a:latin typeface="微软雅黑" panose="020B0503020204020204" charset="-122"/>
                <a:ea typeface="微软雅黑" panose="020B0503020204020204" charset="-122"/>
                <a:sym typeface="+mn-ea"/>
              </a:rPr>
              <a:t>。</a:t>
            </a:r>
            <a:endParaRPr sz="2000" b="1" dirty="0">
              <a:latin typeface="微软雅黑" panose="020B0503020204020204" charset="-122"/>
              <a:ea typeface="微软雅黑" panose="020B0503020204020204" charset="-122"/>
            </a:endParaRPr>
          </a:p>
          <a:p>
            <a:pPr>
              <a:lnSpc>
                <a:spcPct val="140000"/>
              </a:lnSpc>
            </a:pPr>
            <a:r>
              <a:rPr lang="en-US" altLang="zh-CN" sz="2000" b="1" dirty="0">
                <a:latin typeface="微软雅黑" panose="020B0503020204020204" charset="-122"/>
                <a:ea typeface="微软雅黑" panose="020B0503020204020204" charset="-122"/>
                <a:sym typeface="+mn-ea"/>
              </a:rPr>
              <a:t>   </a:t>
            </a:r>
            <a:r>
              <a:rPr lang="zh-CN" sz="2000" b="1" dirty="0">
                <a:latin typeface="微软雅黑" panose="020B0503020204020204" charset="-122"/>
                <a:ea typeface="微软雅黑" panose="020B0503020204020204" charset="-122"/>
                <a:sym typeface="+mn-ea"/>
              </a:rPr>
              <a:t>（</a:t>
            </a:r>
            <a:r>
              <a:rPr lang="en-US" altLang="zh-CN" sz="2000" b="1" dirty="0">
                <a:latin typeface="微软雅黑" panose="020B0503020204020204" charset="-122"/>
                <a:ea typeface="微软雅黑" panose="020B0503020204020204" charset="-122"/>
                <a:sym typeface="+mn-ea"/>
              </a:rPr>
              <a:t>2</a:t>
            </a:r>
            <a:r>
              <a:rPr lang="zh-CN" sz="2000" b="1" dirty="0">
                <a:latin typeface="微软雅黑" panose="020B0503020204020204" charset="-122"/>
                <a:ea typeface="微软雅黑" panose="020B0503020204020204" charset="-122"/>
                <a:sym typeface="+mn-ea"/>
              </a:rPr>
              <a:t>）</a:t>
            </a:r>
            <a:r>
              <a:rPr sz="2000" b="1" dirty="0" err="1">
                <a:latin typeface="微软雅黑" panose="020B0503020204020204" charset="-122"/>
                <a:ea typeface="微软雅黑" panose="020B0503020204020204" charset="-122"/>
                <a:sym typeface="+mn-ea"/>
              </a:rPr>
              <a:t>家庭重大变故的</a:t>
            </a:r>
            <a:r>
              <a:rPr lang="zh-CN" sz="2000" b="1" dirty="0">
                <a:latin typeface="微软雅黑" panose="020B0503020204020204" charset="-122"/>
                <a:ea typeface="微软雅黑" panose="020B0503020204020204" charset="-122"/>
                <a:sym typeface="+mn-ea"/>
              </a:rPr>
              <a:t>：</a:t>
            </a:r>
            <a:r>
              <a:rPr lang="zh-CN" sz="2000" dirty="0">
                <a:latin typeface="微软雅黑" panose="020B0503020204020204" charset="-122"/>
                <a:ea typeface="微软雅黑" panose="020B0503020204020204" charset="-122"/>
                <a:sym typeface="+mn-ea"/>
              </a:rPr>
              <a:t>上传户主页与学生本人页</a:t>
            </a:r>
            <a:r>
              <a:rPr lang="en-US" altLang="zh-CN" sz="2000" dirty="0">
                <a:latin typeface="微软雅黑" panose="020B0503020204020204" charset="-122"/>
                <a:ea typeface="微软雅黑" panose="020B0503020204020204" charset="-122"/>
                <a:sym typeface="+mn-ea"/>
              </a:rPr>
              <a:t>+</a:t>
            </a:r>
            <a:r>
              <a:rPr sz="2000" dirty="0" err="1">
                <a:latin typeface="微软雅黑" panose="020B0503020204020204" charset="-122"/>
                <a:ea typeface="微软雅黑" panose="020B0503020204020204" charset="-122"/>
                <a:sym typeface="+mn-ea"/>
              </a:rPr>
              <a:t>转学申请</a:t>
            </a:r>
            <a:r>
              <a:rPr lang="zh-CN" sz="2000" dirty="0">
                <a:latin typeface="微软雅黑" panose="020B0503020204020204" charset="-122"/>
                <a:ea typeface="微软雅黑" panose="020B0503020204020204" charset="-122"/>
                <a:sym typeface="+mn-ea"/>
              </a:rPr>
              <a:t>、</a:t>
            </a:r>
            <a:r>
              <a:rPr sz="2000" dirty="0" err="1">
                <a:latin typeface="微软雅黑" panose="020B0503020204020204" charset="-122"/>
                <a:ea typeface="微软雅黑" panose="020B0503020204020204" charset="-122"/>
                <a:sym typeface="+mn-ea"/>
              </a:rPr>
              <a:t>重大变故的证明材料</a:t>
            </a:r>
            <a:r>
              <a:rPr sz="2000" dirty="0">
                <a:latin typeface="微软雅黑" panose="020B0503020204020204" charset="-122"/>
                <a:ea typeface="微软雅黑" panose="020B0503020204020204" charset="-122"/>
                <a:sym typeface="+mn-ea"/>
              </a:rPr>
              <a:t>。</a:t>
            </a:r>
            <a:endParaRPr sz="2000" dirty="0">
              <a:latin typeface="微软雅黑" panose="020B0503020204020204" charset="-122"/>
              <a:ea typeface="微软雅黑" panose="020B0503020204020204" charset="-122"/>
            </a:endParaRPr>
          </a:p>
          <a:p>
            <a:pPr>
              <a:lnSpc>
                <a:spcPct val="140000"/>
              </a:lnSpc>
            </a:pPr>
            <a:r>
              <a:rPr lang="en-US" sz="2000" dirty="0">
                <a:latin typeface="微软雅黑" panose="020B0503020204020204" charset="-122"/>
                <a:ea typeface="微软雅黑" panose="020B0503020204020204" charset="-122"/>
                <a:sym typeface="+mn-ea"/>
              </a:rPr>
              <a:t>   2.</a:t>
            </a:r>
            <a:r>
              <a:rPr sz="2000" dirty="0">
                <a:latin typeface="微软雅黑" panose="020B0503020204020204" charset="-122"/>
                <a:ea typeface="微软雅黑" panose="020B0503020204020204" charset="-122"/>
                <a:sym typeface="+mn-ea"/>
              </a:rPr>
              <a:t>因特殊原因跨区转入其</a:t>
            </a:r>
            <a:r>
              <a:rPr sz="2000" dirty="0">
                <a:solidFill>
                  <a:srgbClr val="FF0000"/>
                </a:solidFill>
                <a:latin typeface="微软雅黑" panose="020B0503020204020204" charset="-122"/>
                <a:ea typeface="微软雅黑" panose="020B0503020204020204" charset="-122"/>
                <a:sym typeface="+mn-ea"/>
              </a:rPr>
              <a:t>户籍</a:t>
            </a:r>
            <a:r>
              <a:rPr sz="2000" dirty="0">
                <a:latin typeface="微软雅黑" panose="020B0503020204020204" charset="-122"/>
                <a:ea typeface="微软雅黑" panose="020B0503020204020204" charset="-122"/>
                <a:sym typeface="+mn-ea"/>
              </a:rPr>
              <a:t>所在区的，除提交特殊原因证明材料，还需提交户籍材料。</a:t>
            </a:r>
            <a:endParaRPr sz="2000" dirty="0">
              <a:latin typeface="微软雅黑" panose="020B0503020204020204" charset="-122"/>
              <a:ea typeface="微软雅黑" panose="020B0503020204020204" charset="-122"/>
            </a:endParaRPr>
          </a:p>
          <a:p>
            <a:pPr>
              <a:lnSpc>
                <a:spcPct val="140000"/>
              </a:lnSpc>
            </a:pPr>
            <a:r>
              <a:rPr lang="en-US" altLang="zh-CN" sz="2000" dirty="0">
                <a:latin typeface="微软雅黑" panose="020B0503020204020204" charset="-122"/>
                <a:ea typeface="微软雅黑" panose="020B0503020204020204" charset="-122"/>
                <a:sym typeface="+mn-ea"/>
              </a:rPr>
              <a:t>   </a:t>
            </a:r>
            <a:r>
              <a:rPr lang="zh-CN" sz="2000" dirty="0">
                <a:latin typeface="微软雅黑" panose="020B0503020204020204" charset="-122"/>
                <a:ea typeface="微软雅黑" panose="020B0503020204020204" charset="-122"/>
                <a:sym typeface="+mn-ea"/>
              </a:rPr>
              <a:t>上传法定监护人户口本首页（法定监护人不是户主的，还需提供与学生本人同户口本父或母的户口页）和学生本人页</a:t>
            </a:r>
            <a:r>
              <a:rPr lang="en-US" altLang="zh-CN" sz="2000" dirty="0">
                <a:latin typeface="微软雅黑" panose="020B0503020204020204" charset="-122"/>
                <a:ea typeface="微软雅黑" panose="020B0503020204020204" charset="-122"/>
                <a:sym typeface="+mn-ea"/>
              </a:rPr>
              <a:t>+</a:t>
            </a:r>
            <a:r>
              <a:rPr sz="2000" dirty="0" err="1">
                <a:latin typeface="微软雅黑" panose="020B0503020204020204" charset="-122"/>
                <a:ea typeface="微软雅黑" panose="020B0503020204020204" charset="-122"/>
                <a:sym typeface="+mn-ea"/>
              </a:rPr>
              <a:t>特殊原因证明材料</a:t>
            </a:r>
            <a:r>
              <a:rPr sz="2000" dirty="0">
                <a:latin typeface="微软雅黑" panose="020B0503020204020204" charset="-122"/>
                <a:ea typeface="微软雅黑" panose="020B0503020204020204" charset="-122"/>
                <a:sym typeface="+mn-ea"/>
              </a:rPr>
              <a:t>。</a:t>
            </a:r>
            <a:endParaRPr sz="2000" dirty="0">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   3.</a:t>
            </a:r>
            <a:r>
              <a:rPr lang="zh-CN" altLang="en-US" sz="2000" dirty="0">
                <a:solidFill>
                  <a:schemeClr val="tx1"/>
                </a:solidFill>
                <a:latin typeface="微软雅黑" panose="020B0503020204020204" charset="-122"/>
                <a:ea typeface="微软雅黑" panose="020B0503020204020204" charset="-122"/>
                <a:sym typeface="+mn-ea"/>
              </a:rPr>
              <a:t>因特殊原因跨区转入</a:t>
            </a:r>
            <a:r>
              <a:rPr lang="zh-CN" altLang="en-US" sz="2000" dirty="0">
                <a:solidFill>
                  <a:srgbClr val="FF0000"/>
                </a:solidFill>
                <a:latin typeface="微软雅黑" panose="020B0503020204020204" charset="-122"/>
                <a:ea typeface="微软雅黑" panose="020B0503020204020204" charset="-122"/>
                <a:sym typeface="+mn-ea"/>
              </a:rPr>
              <a:t>实际居住地</a:t>
            </a:r>
            <a:r>
              <a:rPr lang="zh-CN" altLang="en-US" sz="2000" dirty="0">
                <a:solidFill>
                  <a:schemeClr val="tx1"/>
                </a:solidFill>
                <a:latin typeface="微软雅黑" panose="020B0503020204020204" charset="-122"/>
                <a:ea typeface="微软雅黑" panose="020B0503020204020204" charset="-122"/>
                <a:sym typeface="+mn-ea"/>
              </a:rPr>
              <a:t>所在区的，除提交特殊原因证明材料，还需提交父母所有的有法律效力的房产证明材料，及亲子关系的证明材料。</a:t>
            </a:r>
            <a:endParaRPr lang="zh-CN" altLang="en-US" sz="2000" dirty="0">
              <a:solidFill>
                <a:schemeClr val="tx1"/>
              </a:solidFill>
              <a:latin typeface="微软雅黑" panose="020B0503020204020204" charset="-122"/>
              <a:ea typeface="微软雅黑" panose="020B0503020204020204" charset="-122"/>
              <a:sym typeface="+mn-ea"/>
            </a:endParaRPr>
          </a:p>
          <a:p>
            <a:pPr>
              <a:lnSpc>
                <a:spcPct val="140000"/>
              </a:lnSpc>
            </a:pPr>
            <a:r>
              <a:rPr lang="en-US" altLang="zh-CN" sz="2000" dirty="0">
                <a:solidFill>
                  <a:schemeClr val="tx1"/>
                </a:solidFill>
                <a:latin typeface="微软雅黑" panose="020B0503020204020204" charset="-122"/>
                <a:ea typeface="微软雅黑" panose="020B0503020204020204" charset="-122"/>
                <a:sym typeface="+mn-ea"/>
              </a:rPr>
              <a:t>   </a:t>
            </a:r>
            <a:r>
              <a:rPr lang="zh-CN" altLang="en-US" sz="2000" dirty="0">
                <a:solidFill>
                  <a:schemeClr val="tx1"/>
                </a:solidFill>
                <a:latin typeface="微软雅黑" panose="020B0503020204020204" charset="-122"/>
                <a:ea typeface="微软雅黑" panose="020B0503020204020204" charset="-122"/>
                <a:sym typeface="+mn-ea"/>
              </a:rPr>
              <a:t>上传户主页与学生本人页（、法定监护人与学生的亲子关系证明材料）+法定监护人的房产证（购房合同和购房发票）</a:t>
            </a:r>
            <a:r>
              <a:rPr lang="en-US" altLang="zh-CN" sz="2000" dirty="0">
                <a:solidFill>
                  <a:schemeClr val="tx1"/>
                </a:solidFill>
                <a:latin typeface="微软雅黑" panose="020B0503020204020204" charset="-122"/>
                <a:ea typeface="微软雅黑" panose="020B0503020204020204" charset="-122"/>
                <a:sym typeface="+mn-ea"/>
              </a:rPr>
              <a:t>+</a:t>
            </a:r>
            <a:r>
              <a:rPr lang="zh-CN" altLang="en-US" sz="2000" dirty="0">
                <a:solidFill>
                  <a:schemeClr val="tx1"/>
                </a:solidFill>
                <a:latin typeface="微软雅黑" panose="020B0503020204020204" charset="-122"/>
                <a:ea typeface="微软雅黑" panose="020B0503020204020204" charset="-122"/>
                <a:sym typeface="+mn-ea"/>
              </a:rPr>
              <a:t>特殊原因证明材料。</a:t>
            </a:r>
            <a:endParaRPr lang="zh-CN" altLang="en-US" sz="2000" dirty="0">
              <a:solidFill>
                <a:schemeClr val="tx1"/>
              </a:solidFill>
              <a:latin typeface="微软雅黑" panose="020B0503020204020204" charset="-122"/>
              <a:ea typeface="微软雅黑" panose="020B0503020204020204" charset="-122"/>
              <a:sym typeface="+mn-ea"/>
            </a:endParaRPr>
          </a:p>
        </p:txBody>
      </p:sp>
    </p:spTree>
  </p:cSld>
  <p:clrMapOvr>
    <a:masterClrMapping/>
  </p:clrMapOvr>
</p:sld>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FF"/>
      </a:hlink>
      <a:folHlink>
        <a:srgbClr val="954F72"/>
      </a:folHlink>
    </a:clrScheme>
    <a:fontScheme name="自定义 4">
      <a:majorFont>
        <a:latin typeface="MS PGothic"/>
        <a:ea typeface="微软雅黑"/>
        <a:cs typeface=""/>
      </a:majorFont>
      <a:minorFont>
        <a:latin typeface="Arial"/>
        <a:ea typeface="微软雅黑"/>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2933</Words>
  <Application>WPS 演示</Application>
  <PresentationFormat>宽屏</PresentationFormat>
  <Paragraphs>131</Paragraphs>
  <Slides>11</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11</vt:i4>
      </vt:variant>
    </vt:vector>
  </HeadingPairs>
  <TitlesOfParts>
    <vt:vector size="25" baseType="lpstr">
      <vt:lpstr>Arial</vt:lpstr>
      <vt:lpstr>宋体</vt:lpstr>
      <vt:lpstr>Wingdings</vt:lpstr>
      <vt:lpstr>Nimbus Roman No9 L</vt:lpstr>
      <vt:lpstr>Wingdings</vt:lpstr>
      <vt:lpstr>微软雅黑</vt:lpstr>
      <vt:lpstr>黑体</vt:lpstr>
      <vt:lpstr>Arial Unicode MS</vt:lpstr>
      <vt:lpstr>MS PGothic</vt:lpstr>
      <vt:lpstr>汉仪仿宋S</vt:lpstr>
      <vt:lpstr>Calibri</vt:lpstr>
      <vt:lpstr>DejaVu Sans</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Bob Zhou</dc:creator>
  <cp:lastModifiedBy>sugon</cp:lastModifiedBy>
  <cp:revision>210</cp:revision>
  <dcterms:created xsi:type="dcterms:W3CDTF">2025-01-08T08:22:15Z</dcterms:created>
  <dcterms:modified xsi:type="dcterms:W3CDTF">2025-01-08T08:22:15Z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2052-11.8.2.10229</vt:lpwstr>
  </property>
</Properties>
</file>